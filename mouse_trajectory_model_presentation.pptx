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73" r:id="rId2"/>
    <p:sldId id="272" r:id="rId3"/>
    <p:sldId id="274" r:id="rId4"/>
    <p:sldId id="26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520" y="11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0C7682-407D-4C52-AB30-57E63F08138D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7F21D-3224-4D53-9777-D33C4AA5B4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7357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805B7E48-578E-BEB5-CC4F-E80D304F2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d748f9b26d_0_0:notes">
            <a:extLst>
              <a:ext uri="{FF2B5EF4-FFF2-40B4-BE49-F238E27FC236}">
                <a16:creationId xmlns:a16="http://schemas.microsoft.com/office/drawing/2014/main" id="{FAEB6E9D-83FE-20A9-8DEB-1DC81AD20B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d748f9b26d_0_0:notes">
            <a:extLst>
              <a:ext uri="{FF2B5EF4-FFF2-40B4-BE49-F238E27FC236}">
                <a16:creationId xmlns:a16="http://schemas.microsoft.com/office/drawing/2014/main" id="{1E60B992-2781-6FDC-8A57-713605CF51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Hello, my name is Minhyeok Baek, today I presenting </a:t>
            </a:r>
            <a:r>
              <a:rPr lang="ko" altLang="ko-KR" sz="1100" b="1" dirty="0">
                <a:highlight>
                  <a:srgbClr val="FFFFFF"/>
                </a:highlight>
              </a:rPr>
              <a:t>Distribution Augmentation for Generative Modeling</a:t>
            </a:r>
            <a:r>
              <a:rPr lang="en-US" altLang="ko" sz="1100" b="1" dirty="0">
                <a:highlight>
                  <a:srgbClr val="FFFFFF"/>
                </a:highlight>
              </a:rPr>
              <a:t>, It about data </a:t>
            </a:r>
            <a:r>
              <a:rPr lang="en-US" altLang="ko" sz="1100" b="1" dirty="0" err="1">
                <a:highlight>
                  <a:srgbClr val="FFFFFF"/>
                </a:highlight>
              </a:rPr>
              <a:t>hungy</a:t>
            </a:r>
            <a:r>
              <a:rPr lang="en-US" altLang="ko" sz="1100" b="1" dirty="0">
                <a:highlight>
                  <a:srgbClr val="FFFFFF"/>
                </a:highlight>
              </a:rPr>
              <a:t>, and it published ICML 2020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697313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0B0C6-98EC-7425-B9C1-FE86CE4F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7E2413-1DE7-04AF-63F9-138CFE7AD2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17ED2B-2EFB-D598-4977-DA127135B6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let’s move on to the experiment.</a:t>
            </a:r>
            <a:br>
              <a:rPr lang="en-US" altLang="ko-KR" dirty="0"/>
            </a:br>
            <a:r>
              <a:rPr lang="en-US" altLang="ko-KR" dirty="0"/>
              <a:t>The experiments support three main claims:</a:t>
            </a:r>
          </a:p>
          <a:p>
            <a:r>
              <a:rPr lang="en-US" altLang="ko-KR" dirty="0" err="1"/>
              <a:t>DistAug</a:t>
            </a:r>
            <a:r>
              <a:rPr lang="en-US" altLang="ko-KR" dirty="0"/>
              <a:t> scales better than standard regularization methods </a:t>
            </a:r>
          </a:p>
          <a:p>
            <a:r>
              <a:rPr lang="en-US" altLang="ko-KR" dirty="0"/>
              <a:t>Proper transformation choices improve performance even for small models </a:t>
            </a:r>
          </a:p>
          <a:p>
            <a:r>
              <a:rPr lang="en-US" altLang="ko-KR" dirty="0"/>
              <a:t>Conditioning reduces errors and improves sample quality </a:t>
            </a:r>
          </a:p>
          <a:p>
            <a:pPr marL="158750" indent="0">
              <a:buNone/>
            </a:pPr>
            <a:endParaRPr lang="en-US" altLang="ko-KR" dirty="0"/>
          </a:p>
          <a:p>
            <a:pPr marL="158750" indent="0">
              <a:buNone/>
            </a:pPr>
            <a:r>
              <a:rPr lang="en-US" altLang="ko-KR" dirty="0" err="1"/>
              <a:t>DistAug</a:t>
            </a:r>
            <a:r>
              <a:rPr lang="ko-KR" altLang="en-US" dirty="0"/>
              <a:t>에 대해서 알아보았으니</a:t>
            </a:r>
            <a:r>
              <a:rPr lang="en-US" altLang="ko-KR" dirty="0"/>
              <a:t>, </a:t>
            </a:r>
            <a:r>
              <a:rPr lang="ko-KR" altLang="en-US" dirty="0"/>
              <a:t>이에 대한 검증 세션을 보도록 합시다</a:t>
            </a:r>
            <a:r>
              <a:rPr lang="en-US" altLang="ko-KR" dirty="0"/>
              <a:t>.</a:t>
            </a:r>
          </a:p>
          <a:p>
            <a:pPr marL="158750" indent="0">
              <a:buNone/>
            </a:pPr>
            <a:endParaRPr lang="en-US" altLang="ko-KR" dirty="0"/>
          </a:p>
          <a:p>
            <a:pPr marL="158750" indent="0">
              <a:buNone/>
            </a:pPr>
            <a:r>
              <a:rPr lang="en-US" altLang="ko-KR" dirty="0"/>
              <a:t>experiment </a:t>
            </a:r>
            <a:r>
              <a:rPr lang="ko-KR" altLang="en-US" dirty="0"/>
              <a:t>에서는 다음 세 가지 주장을 뒷받침하는 증거를 제시합니다</a:t>
            </a:r>
            <a:r>
              <a:rPr lang="en-US" altLang="ko-KR" dirty="0"/>
              <a:t>.</a:t>
            </a:r>
          </a:p>
          <a:p>
            <a:pPr marL="158750" indent="0">
              <a:buNone/>
            </a:pPr>
            <a:endParaRPr lang="en-US" altLang="ko-KR" dirty="0"/>
          </a:p>
          <a:p>
            <a:r>
              <a:rPr lang="en-US" altLang="ko-KR" b="1" dirty="0" err="1"/>
              <a:t>DistAug</a:t>
            </a:r>
            <a:r>
              <a:rPr lang="ko-KR" altLang="en-US" b="1" dirty="0"/>
              <a:t>는 기존 정규화 기법보다 더 큰 모델에서도 안정적으로 성능을 유지한다</a:t>
            </a:r>
            <a:r>
              <a:rPr lang="en-US" altLang="ko-KR" b="1" dirty="0"/>
              <a:t>.</a:t>
            </a:r>
            <a:endParaRPr lang="ko-KR" altLang="en-US" dirty="0"/>
          </a:p>
          <a:p>
            <a:r>
              <a:rPr lang="ko-KR" altLang="en-US" b="1" dirty="0"/>
              <a:t>적절한 </a:t>
            </a:r>
            <a:r>
              <a:rPr lang="en-US" altLang="ko-KR" b="1" dirty="0"/>
              <a:t>transformation </a:t>
            </a:r>
            <a:r>
              <a:rPr lang="ko-KR" altLang="en-US" b="1" dirty="0"/>
              <a:t>선택은 작은 모델에서도 성능 향상을 이끌어낸다</a:t>
            </a:r>
            <a:r>
              <a:rPr lang="en-US" altLang="ko-KR" b="1" dirty="0"/>
              <a:t>.</a:t>
            </a:r>
            <a:endParaRPr lang="ko-KR" altLang="en-US" dirty="0"/>
          </a:p>
          <a:p>
            <a:r>
              <a:rPr lang="en-US" altLang="ko-KR" b="1" dirty="0"/>
              <a:t>conditioning</a:t>
            </a:r>
            <a:r>
              <a:rPr lang="ko-KR" altLang="en-US" b="1" dirty="0"/>
              <a:t>을 도입하면 오류는 감소하고 샘플 품질은 향상된다</a:t>
            </a:r>
            <a:r>
              <a:rPr lang="en-US" altLang="ko-KR" b="1" dirty="0"/>
              <a:t>.</a:t>
            </a:r>
            <a:endParaRPr lang="en-US" altLang="ko-KR" dirty="0"/>
          </a:p>
          <a:p>
            <a:pPr marL="158750" indent="0">
              <a:buNone/>
            </a:pPr>
            <a:endParaRPr lang="en-US" altLang="ko-KR" dirty="0"/>
          </a:p>
          <a:p>
            <a:pPr marL="15875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314711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53F01-15F1-933E-E56C-47FF8D37C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A1C0F7-B788-823F-A2F6-B4738F487B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11CF48-6A76-6951-4E16-777F4A1CC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let’s move on to the experiment.</a:t>
            </a:r>
            <a:br>
              <a:rPr lang="en-US" altLang="ko-KR" dirty="0"/>
            </a:br>
            <a:r>
              <a:rPr lang="en-US" altLang="ko-KR" dirty="0"/>
              <a:t>The experiments support three main claims:</a:t>
            </a:r>
          </a:p>
          <a:p>
            <a:r>
              <a:rPr lang="en-US" altLang="ko-KR" dirty="0" err="1"/>
              <a:t>DistAug</a:t>
            </a:r>
            <a:r>
              <a:rPr lang="en-US" altLang="ko-KR" dirty="0"/>
              <a:t> scales better than standard regularization methods </a:t>
            </a:r>
          </a:p>
          <a:p>
            <a:r>
              <a:rPr lang="en-US" altLang="ko-KR" dirty="0"/>
              <a:t>Proper transformation choices improve performance even for small models </a:t>
            </a:r>
          </a:p>
          <a:p>
            <a:r>
              <a:rPr lang="en-US" altLang="ko-KR" dirty="0"/>
              <a:t>Conditioning reduces errors and improves sample quality </a:t>
            </a:r>
          </a:p>
          <a:p>
            <a:pPr marL="158750" indent="0">
              <a:buNone/>
            </a:pPr>
            <a:endParaRPr lang="en-US" altLang="ko-KR" dirty="0"/>
          </a:p>
          <a:p>
            <a:pPr marL="158750" indent="0">
              <a:buNone/>
            </a:pPr>
            <a:r>
              <a:rPr lang="en-US" altLang="ko-KR" dirty="0" err="1"/>
              <a:t>DistAug</a:t>
            </a:r>
            <a:r>
              <a:rPr lang="ko-KR" altLang="en-US" dirty="0"/>
              <a:t>에 대해서 알아보았으니</a:t>
            </a:r>
            <a:r>
              <a:rPr lang="en-US" altLang="ko-KR" dirty="0"/>
              <a:t>, </a:t>
            </a:r>
            <a:r>
              <a:rPr lang="ko-KR" altLang="en-US" dirty="0"/>
              <a:t>이에 대한 검증 세션을 보도록 합시다</a:t>
            </a:r>
            <a:r>
              <a:rPr lang="en-US" altLang="ko-KR" dirty="0"/>
              <a:t>.</a:t>
            </a:r>
          </a:p>
          <a:p>
            <a:pPr marL="158750" indent="0">
              <a:buNone/>
            </a:pPr>
            <a:endParaRPr lang="en-US" altLang="ko-KR" dirty="0"/>
          </a:p>
          <a:p>
            <a:pPr marL="158750" indent="0">
              <a:buNone/>
            </a:pPr>
            <a:r>
              <a:rPr lang="en-US" altLang="ko-KR" dirty="0"/>
              <a:t>experiment </a:t>
            </a:r>
            <a:r>
              <a:rPr lang="ko-KR" altLang="en-US" dirty="0"/>
              <a:t>에서는 다음 세 가지 주장을 뒷받침하는 증거를 제시합니다</a:t>
            </a:r>
            <a:r>
              <a:rPr lang="en-US" altLang="ko-KR" dirty="0"/>
              <a:t>.</a:t>
            </a:r>
          </a:p>
          <a:p>
            <a:pPr marL="158750" indent="0">
              <a:buNone/>
            </a:pPr>
            <a:endParaRPr lang="en-US" altLang="ko-KR" dirty="0"/>
          </a:p>
          <a:p>
            <a:r>
              <a:rPr lang="en-US" altLang="ko-KR" b="1" dirty="0" err="1"/>
              <a:t>DistAug</a:t>
            </a:r>
            <a:r>
              <a:rPr lang="ko-KR" altLang="en-US" b="1" dirty="0"/>
              <a:t>는 기존 정규화 기법보다 더 큰 모델에서도 안정적으로 성능을 유지한다</a:t>
            </a:r>
            <a:r>
              <a:rPr lang="en-US" altLang="ko-KR" b="1" dirty="0"/>
              <a:t>.</a:t>
            </a:r>
            <a:endParaRPr lang="ko-KR" altLang="en-US" dirty="0"/>
          </a:p>
          <a:p>
            <a:r>
              <a:rPr lang="ko-KR" altLang="en-US" b="1" dirty="0"/>
              <a:t>적절한 </a:t>
            </a:r>
            <a:r>
              <a:rPr lang="en-US" altLang="ko-KR" b="1" dirty="0"/>
              <a:t>transformation </a:t>
            </a:r>
            <a:r>
              <a:rPr lang="ko-KR" altLang="en-US" b="1" dirty="0"/>
              <a:t>선택은 작은 모델에서도 성능 향상을 이끌어낸다</a:t>
            </a:r>
            <a:r>
              <a:rPr lang="en-US" altLang="ko-KR" b="1" dirty="0"/>
              <a:t>.</a:t>
            </a:r>
            <a:endParaRPr lang="ko-KR" altLang="en-US" dirty="0"/>
          </a:p>
          <a:p>
            <a:r>
              <a:rPr lang="en-US" altLang="ko-KR" b="1" dirty="0"/>
              <a:t>conditioning</a:t>
            </a:r>
            <a:r>
              <a:rPr lang="ko-KR" altLang="en-US" b="1" dirty="0"/>
              <a:t>을 도입하면 오류는 감소하고 샘플 품질은 향상된다</a:t>
            </a:r>
            <a:r>
              <a:rPr lang="en-US" altLang="ko-KR" b="1" dirty="0"/>
              <a:t>.</a:t>
            </a:r>
            <a:endParaRPr lang="en-US" altLang="ko-KR" dirty="0"/>
          </a:p>
          <a:p>
            <a:pPr marL="158750" indent="0">
              <a:buNone/>
            </a:pPr>
            <a:endParaRPr lang="en-US" altLang="ko-KR" dirty="0"/>
          </a:p>
          <a:p>
            <a:pPr marL="15875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070691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r"/>
            <a:fld id="{00000000-1234-1234-1234-123412341234}" type="slidenum">
              <a:rPr lang="en-US" altLang="ko" smtClean="0"/>
              <a:pPr algn="r"/>
              <a:t>‹#›</a:t>
            </a:fld>
            <a:endParaRPr lang="ko" altLang="en-US"/>
          </a:p>
        </p:txBody>
      </p:sp>
    </p:spTree>
    <p:extLst>
      <p:ext uri="{BB962C8B-B14F-4D97-AF65-F5344CB8AC3E}">
        <p14:creationId xmlns:p14="http://schemas.microsoft.com/office/powerpoint/2010/main" val="1647853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4"/><Relationship Id="rId1" Type="http://schemas.openxmlformats.org/officeDocument/2006/relationships/video" Target="NULL" TargetMode="External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34206D7A-DE3F-2C5D-5F36-E6A8DAC73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6">
            <a:extLst>
              <a:ext uri="{FF2B5EF4-FFF2-40B4-BE49-F238E27FC236}">
                <a16:creationId xmlns:a16="http://schemas.microsoft.com/office/drawing/2014/main" id="{12C5DD39-C5D1-2CD5-8894-04CFE3E3D3A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15600" y="1155750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 fontScale="90000"/>
          </a:bodyPr>
          <a:lstStyle/>
          <a:p>
            <a:pPr>
              <a:lnSpc>
                <a:spcPct val="115000"/>
              </a:lnSpc>
              <a:spcBef>
                <a:spcPts val="3200"/>
              </a:spcBef>
            </a:pPr>
            <a:r>
              <a:rPr lang="en-US" altLang="ko" sz="3067" b="1" dirty="0">
                <a:highlight>
                  <a:srgbClr val="FFFFFF"/>
                </a:highlight>
              </a:rPr>
              <a:t>26.06.10. Term Project Presentation</a:t>
            </a:r>
            <a:endParaRPr sz="3067" b="1" dirty="0">
              <a:highlight>
                <a:srgbClr val="FFFFFF"/>
              </a:highlight>
            </a:endParaRPr>
          </a:p>
          <a:p>
            <a:pPr>
              <a:lnSpc>
                <a:spcPct val="115000"/>
              </a:lnSpc>
              <a:spcBef>
                <a:spcPts val="3200"/>
              </a:spcBef>
              <a:spcAft>
                <a:spcPts val="800"/>
              </a:spcAft>
            </a:pPr>
            <a:r>
              <a:rPr lang="en-US" altLang="ko" sz="3067" b="1" dirty="0">
                <a:highlight>
                  <a:srgbClr val="FFFFFF"/>
                </a:highlight>
              </a:rPr>
              <a:t>Generating Human-Like Mouse Cursor Trajectories from</a:t>
            </a:r>
            <a:br>
              <a:rPr lang="en-US" altLang="ko" sz="3067" b="1" dirty="0">
                <a:highlight>
                  <a:srgbClr val="FFFFFF"/>
                </a:highlight>
              </a:rPr>
            </a:br>
            <a:r>
              <a:rPr lang="en-US" altLang="ko" sz="3067" b="1" dirty="0" err="1">
                <a:highlight>
                  <a:srgbClr val="FFFFFF"/>
                </a:highlight>
              </a:rPr>
              <a:t>Fitts’</a:t>
            </a:r>
            <a:r>
              <a:rPr lang="en-US" altLang="ko" sz="3067" b="1" dirty="0">
                <a:highlight>
                  <a:srgbClr val="FFFFFF"/>
                </a:highlight>
              </a:rPr>
              <a:t> Law Task Data Using CVAE-GRU</a:t>
            </a:r>
            <a:endParaRPr dirty="0"/>
          </a:p>
        </p:txBody>
      </p:sp>
      <p:sp>
        <p:nvSpPr>
          <p:cNvPr id="136" name="Google Shape;136;p26">
            <a:extLst>
              <a:ext uri="{FF2B5EF4-FFF2-40B4-BE49-F238E27FC236}">
                <a16:creationId xmlns:a16="http://schemas.microsoft.com/office/drawing/2014/main" id="{9F3A86B8-DD14-738B-6261-EF9060A9647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15600" y="5214350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 marL="0" indent="0" algn="l"/>
            <a:endParaRPr lang="en-US" sz="1933" b="1" u="sng" dirty="0">
              <a:solidFill>
                <a:srgbClr val="E06666"/>
              </a:solidFill>
              <a:highlight>
                <a:srgbClr val="FFFFFF"/>
              </a:highlight>
            </a:endParaRPr>
          </a:p>
          <a:p>
            <a:pPr marL="0" indent="0"/>
            <a:r>
              <a:rPr lang="en-US" sz="1933" b="1" u="sng" dirty="0">
                <a:solidFill>
                  <a:srgbClr val="E06666"/>
                </a:solidFill>
                <a:highlight>
                  <a:srgbClr val="FFFFFF"/>
                </a:highlight>
              </a:rPr>
              <a:t>Minhyeok Baek, </a:t>
            </a:r>
            <a:r>
              <a:rPr lang="en-US" altLang="ko-KR" sz="1933" b="1" u="sng" dirty="0" err="1">
                <a:solidFill>
                  <a:srgbClr val="E06666"/>
                </a:solidFill>
                <a:highlight>
                  <a:srgbClr val="FFFFFF"/>
                </a:highlight>
              </a:rPr>
              <a:t>Gyujin</a:t>
            </a:r>
            <a:r>
              <a:rPr lang="en-US" sz="1933" b="1" u="sng" dirty="0">
                <a:solidFill>
                  <a:srgbClr val="E06666"/>
                </a:solidFill>
                <a:highlight>
                  <a:srgbClr val="FFFFFF"/>
                </a:highlight>
              </a:rPr>
              <a:t> Gyeong</a:t>
            </a:r>
            <a:endParaRPr sz="1933" b="1" u="sng" dirty="0">
              <a:solidFill>
                <a:srgbClr val="E06666"/>
              </a:solidFill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0426134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7A52A-0AD2-114D-71F6-7DFA8A2F8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4E9EECD8-7D22-D229-D0A9-D182D8C0702A}"/>
              </a:ext>
            </a:extLst>
          </p:cNvPr>
          <p:cNvSpPr txBox="1"/>
          <p:nvPr/>
        </p:nvSpPr>
        <p:spPr>
          <a:xfrm>
            <a:off x="466726" y="359149"/>
            <a:ext cx="11258549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733" dirty="0">
                <a:latin typeface="AppleSDGothicNeoB00" panose="02000503000000000000" pitchFamily="2" charset="-127"/>
                <a:ea typeface="AppleSDGothicNeoB00" panose="02000503000000000000" pitchFamily="2" charset="-127"/>
              </a:rPr>
              <a:t>Motivation</a:t>
            </a:r>
            <a:endParaRPr lang="ko-KR" altLang="en-US" sz="3733" dirty="0">
              <a:latin typeface="AppleSDGothicNeoB00" panose="02000503000000000000" pitchFamily="2" charset="-127"/>
              <a:ea typeface="AppleSDGothicNeoB00" panose="02000503000000000000" pitchFamily="2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7AE4F3-36C8-61ED-8961-A973A25CE185}"/>
              </a:ext>
            </a:extLst>
          </p:cNvPr>
          <p:cNvSpPr txBox="1"/>
          <p:nvPr/>
        </p:nvSpPr>
        <p:spPr>
          <a:xfrm>
            <a:off x="823912" y="1995489"/>
            <a:ext cx="10544176" cy="28161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ppleSDGothicNeoL00" panose="02000503000000000000" pitchFamily="2" charset="-127"/>
                <a:ea typeface="AppleSDGothicNeoL00" panose="02000503000000000000" pitchFamily="2" charset="-127"/>
              </a:rPr>
              <a:t>In HCI(Human-Computer Interaction) Research -&gt; Especially Input Devices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400" dirty="0">
                <a:latin typeface="AppleSDGothicNeoL00" panose="02000503000000000000" pitchFamily="2" charset="-127"/>
                <a:ea typeface="AppleSDGothicNeoL00" panose="02000503000000000000" pitchFamily="2" charset="-127"/>
              </a:rPr>
              <a:t>Cost of participant recruitment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400" dirty="0">
                <a:latin typeface="AppleSDGothicNeoL00" panose="02000503000000000000" pitchFamily="2" charset="-127"/>
                <a:ea typeface="AppleSDGothicNeoL00" panose="02000503000000000000" pitchFamily="2" charset="-127"/>
              </a:rPr>
              <a:t>Long experiment durations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400" dirty="0">
                <a:latin typeface="AppleSDGothicNeoL00" panose="02000503000000000000" pitchFamily="2" charset="-127"/>
                <a:ea typeface="AppleSDGothicNeoL00" panose="02000503000000000000" pitchFamily="2" charset="-127"/>
              </a:rPr>
              <a:t>Difficulty in repeated validation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latin typeface="AppleSDGothicNeoL00" panose="02000503000000000000" pitchFamily="2" charset="-127"/>
                <a:ea typeface="AppleSDGothicNeoL00" panose="02000503000000000000" pitchFamily="2" charset="-127"/>
              </a:rPr>
              <a:t>→ Rapid prototyping and iterative experimentation become challenging.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9396EA-C30C-47B1-766B-F8FE23713A13}"/>
              </a:ext>
            </a:extLst>
          </p:cNvPr>
          <p:cNvSpPr txBox="1"/>
          <p:nvPr/>
        </p:nvSpPr>
        <p:spPr>
          <a:xfrm>
            <a:off x="823912" y="1356996"/>
            <a:ext cx="96789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AppleSDGothicNeoB00" panose="02000503000000000000" pitchFamily="2" charset="-127"/>
                <a:ea typeface="AppleSDGothicNeoB00" panose="02000503000000000000" pitchFamily="2" charset="-127"/>
              </a:rPr>
              <a:t>Why Generate Mouse Cursor Trajectories?</a:t>
            </a:r>
            <a:endParaRPr lang="ko-KR" altLang="en-US" sz="2400" dirty="0">
              <a:latin typeface="AppleSDGothicNeoB00" panose="02000503000000000000" pitchFamily="2" charset="-127"/>
              <a:ea typeface="AppleSDGothicNeoB00" panose="02000503000000000000" pitchFamily="2" charset="-127"/>
            </a:endParaRPr>
          </a:p>
        </p:txBody>
      </p:sp>
      <p:pic>
        <p:nvPicPr>
          <p:cNvPr id="1027" name="Picture 3" descr="Amazon.com: Logitech B100 Wired Mouse for Computer and Laptop, USB Corded  Mouse, Right or Left Hand Use - Black : Electronics">
            <a:extLst>
              <a:ext uri="{FF2B5EF4-FFF2-40B4-BE49-F238E27FC236}">
                <a16:creationId xmlns:a16="http://schemas.microsoft.com/office/drawing/2014/main" id="{0767FFB3-D6B2-E71E-F5C3-B36219B7D1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5" b="22590"/>
          <a:stretch>
            <a:fillRect/>
          </a:stretch>
        </p:blipFill>
        <p:spPr bwMode="auto">
          <a:xfrm>
            <a:off x="7975600" y="2584450"/>
            <a:ext cx="1079500" cy="666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Manhattan Black Wired Keyboard (5 ft. USB-A Cable) with 104-keys, Foldable  Stands, and LED Indicator Lights - Compatible for Windows : Amazon.sg: ...">
            <a:extLst>
              <a:ext uri="{FF2B5EF4-FFF2-40B4-BE49-F238E27FC236}">
                <a16:creationId xmlns:a16="http://schemas.microsoft.com/office/drawing/2014/main" id="{402A1264-2BD0-0D09-C2B7-F90DF5E14F6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40"/>
          <a:stretch>
            <a:fillRect/>
          </a:stretch>
        </p:blipFill>
        <p:spPr bwMode="auto">
          <a:xfrm>
            <a:off x="9130279" y="2584450"/>
            <a:ext cx="1550915" cy="672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C6FFFA2-E668-F031-4ED7-FF8F5685F7EC}"/>
              </a:ext>
            </a:extLst>
          </p:cNvPr>
          <p:cNvSpPr txBox="1"/>
          <p:nvPr/>
        </p:nvSpPr>
        <p:spPr>
          <a:xfrm>
            <a:off x="10756373" y="2881868"/>
            <a:ext cx="8445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AppleSDGothicNeoL00" panose="02000503000000000000" pitchFamily="2" charset="-127"/>
                <a:ea typeface="AppleSDGothicNeoL00" panose="02000503000000000000" pitchFamily="2" charset="-127"/>
              </a:rPr>
              <a:t>etc...</a:t>
            </a:r>
            <a:endParaRPr lang="ko-KR" altLang="en-US" dirty="0">
              <a:latin typeface="AppleSDGothicNeoL00" panose="02000503000000000000" pitchFamily="2" charset="-127"/>
              <a:ea typeface="AppleSDGothicNeoL00" panose="02000503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91029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8DE0A-4CF2-C7E8-64A4-16E2F00E4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99A40827-7174-B990-120E-A3A2F3EF1CF3}"/>
              </a:ext>
            </a:extLst>
          </p:cNvPr>
          <p:cNvSpPr txBox="1"/>
          <p:nvPr/>
        </p:nvSpPr>
        <p:spPr>
          <a:xfrm>
            <a:off x="466726" y="359149"/>
            <a:ext cx="11258549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733" dirty="0">
                <a:latin typeface="AppleSDGothicNeoB00" panose="02000503000000000000" pitchFamily="2" charset="-127"/>
                <a:ea typeface="AppleSDGothicNeoB00" panose="02000503000000000000" pitchFamily="2" charset="-127"/>
              </a:rPr>
              <a:t>Motivation</a:t>
            </a:r>
            <a:endParaRPr lang="ko-KR" altLang="en-US" sz="3733" dirty="0">
              <a:latin typeface="AppleSDGothicNeoB00" panose="02000503000000000000" pitchFamily="2" charset="-127"/>
              <a:ea typeface="AppleSDGothicNeoB00" panose="02000503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B219DC-90B6-CFFA-F8F5-2E6FA7FF7923}"/>
              </a:ext>
            </a:extLst>
          </p:cNvPr>
          <p:cNvSpPr txBox="1"/>
          <p:nvPr/>
        </p:nvSpPr>
        <p:spPr>
          <a:xfrm>
            <a:off x="823912" y="1356996"/>
            <a:ext cx="96789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AppleSDGothicNeoB00" panose="02000503000000000000" pitchFamily="2" charset="-127"/>
                <a:ea typeface="AppleSDGothicNeoB00" panose="02000503000000000000" pitchFamily="2" charset="-127"/>
              </a:rPr>
              <a:t>In Mouse Research Field</a:t>
            </a:r>
            <a:endParaRPr lang="ko-KR" altLang="en-US" sz="2400" dirty="0">
              <a:latin typeface="AppleSDGothicNeoB00" panose="02000503000000000000" pitchFamily="2" charset="-127"/>
              <a:ea typeface="AppleSDGothicNeoB00" panose="02000503000000000000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99F62B-DFDD-F1C3-C51A-689183B783F5}"/>
              </a:ext>
            </a:extLst>
          </p:cNvPr>
          <p:cNvSpPr txBox="1"/>
          <p:nvPr/>
        </p:nvSpPr>
        <p:spPr>
          <a:xfrm>
            <a:off x="4346107" y="5944229"/>
            <a:ext cx="386618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AppleSDGothicNeoL00" panose="02000503000000000000" pitchFamily="2" charset="-127"/>
                <a:ea typeface="AppleSDGothicNeoL00" panose="02000503000000000000" pitchFamily="2" charset="-127"/>
              </a:rPr>
              <a:t>ISO 9241-9</a:t>
            </a:r>
            <a:br>
              <a:rPr lang="en-US" altLang="ko-KR" dirty="0">
                <a:latin typeface="AppleSDGothicNeoL00" panose="02000503000000000000" pitchFamily="2" charset="-127"/>
                <a:ea typeface="AppleSDGothicNeoL00" panose="02000503000000000000" pitchFamily="2" charset="-127"/>
              </a:rPr>
            </a:br>
            <a:r>
              <a:rPr lang="en-US" altLang="ko-KR" dirty="0">
                <a:latin typeface="AppleSDGothicNeoL00" panose="02000503000000000000" pitchFamily="2" charset="-127"/>
                <a:ea typeface="AppleSDGothicNeoL00" panose="02000503000000000000" pitchFamily="2" charset="-127"/>
              </a:rPr>
              <a:t>a.k.a. </a:t>
            </a:r>
            <a:r>
              <a:rPr lang="en-US" altLang="ko-KR" dirty="0" err="1">
                <a:latin typeface="AppleSDGothicNeoL00" panose="02000503000000000000" pitchFamily="2" charset="-127"/>
                <a:ea typeface="AppleSDGothicNeoL00" panose="02000503000000000000" pitchFamily="2" charset="-127"/>
              </a:rPr>
              <a:t>Fitts’</a:t>
            </a:r>
            <a:r>
              <a:rPr lang="en-US" altLang="ko-KR" dirty="0">
                <a:latin typeface="AppleSDGothicNeoL00" panose="02000503000000000000" pitchFamily="2" charset="-127"/>
                <a:ea typeface="AppleSDGothicNeoL00" panose="02000503000000000000" pitchFamily="2" charset="-127"/>
              </a:rPr>
              <a:t> Law test</a:t>
            </a:r>
            <a:endParaRPr lang="ko-KR" altLang="en-US" dirty="0">
              <a:latin typeface="AppleSDGothicNeoL00" panose="02000503000000000000" pitchFamily="2" charset="-127"/>
              <a:ea typeface="AppleSDGothicNeoL00" panose="02000503000000000000" pitchFamily="2" charset="-127"/>
            </a:endParaRPr>
          </a:p>
        </p:txBody>
      </p:sp>
      <p:pic>
        <p:nvPicPr>
          <p:cNvPr id="9" name="2026-06-09 15-33-06">
            <a:hlinkClick r:id="" action="ppaction://media"/>
            <a:extLst>
              <a:ext uri="{FF2B5EF4-FFF2-40B4-BE49-F238E27FC236}">
                <a16:creationId xmlns:a16="http://schemas.microsoft.com/office/drawing/2014/main" id="{9E263AED-DABA-9074-6763-C93F026F04B1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st="1174" end="2194"/>
                </p14:media>
              </p:ext>
            </p:extLst>
          </p:nvPr>
        </p:nvPicPr>
        <p:blipFill>
          <a:blip r:embed="rId5"/>
          <a:srcRect l="15025" t="10644" r="18671" b="7919"/>
          <a:stretch>
            <a:fillRect/>
          </a:stretch>
        </p:blipFill>
        <p:spPr>
          <a:xfrm>
            <a:off x="3468715" y="1996891"/>
            <a:ext cx="5620972" cy="3883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423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99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800" b="1" dirty="0">
                <a:solidFill>
                  <a:srgbClr val="111111"/>
                </a:solidFill>
              </a:rPr>
              <a:t>Human-Like Mouse Trajectory Generation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800" b="1">
                <a:solidFill>
                  <a:srgbClr val="111111"/>
                </a:solidFill>
              </a:rPr>
              <a:t>Model: Conditional CVAE + GRU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300" b="0">
                <a:solidFill>
                  <a:srgbClr val="555555"/>
                </a:solidFill>
              </a:rPr>
              <a:t>Generate normalized trajectories under movement conditions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40080" y="1417320"/>
            <a:ext cx="3657600" cy="3749039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000" b="0">
                <a:solidFill>
                  <a:srgbClr val="222222"/>
                </a:solidFill>
              </a:rPr>
              <a:t>Inputs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A: movement distance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W: target width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ID: difficulty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duration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343400" y="1417320"/>
            <a:ext cx="3474720" cy="3749039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000" b="0">
                <a:solidFill>
                  <a:srgbClr val="222222"/>
                </a:solidFill>
              </a:rPr>
              <a:t>Model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Encoder: GRU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Latent z: trajectory variation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Decoder: GRU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Endpoint constrained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001000" y="1417320"/>
            <a:ext cx="3566160" cy="3749039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000" b="0">
                <a:solidFill>
                  <a:srgbClr val="222222"/>
                </a:solidFill>
              </a:rPr>
              <a:t>Output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Normalized path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start=(0,0)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target=(1,0)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remapped to screen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800" b="1" dirty="0">
                <a:solidFill>
                  <a:srgbClr val="111111"/>
                </a:solidFill>
              </a:rPr>
              <a:t>Why This Model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1325880"/>
            <a:ext cx="5029200" cy="429768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100" b="0">
                <a:solidFill>
                  <a:srgbClr val="222222"/>
                </a:solidFill>
              </a:rPr>
              <a:t>CVAE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Same condition has many valid human paths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Latent space captures movement variation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Supports conditional sampling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263640" y="1325880"/>
            <a:ext cx="5029200" cy="429768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100" b="0">
                <a:solidFill>
                  <a:srgbClr val="222222"/>
                </a:solidFill>
              </a:rPr>
              <a:t>GRU Decoder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Trajectories are sequential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Generates time-ordered points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Lightweight and stable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800" b="1">
                <a:solidFill>
                  <a:srgbClr val="111111"/>
                </a:solidFill>
              </a:rPr>
              <a:t>Data Repair and Normalization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1234440"/>
            <a:ext cx="5303520" cy="438912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000" b="0">
                <a:solidFill>
                  <a:srgbClr val="222222"/>
                </a:solidFill>
              </a:rPr>
              <a:t>Issue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CSV lacked enough trial identity columns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Multiple original trajectories were merged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ID, duration, t_norm were missing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400800" y="1234440"/>
            <a:ext cx="4937760" cy="438912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000" b="0">
                <a:solidFill>
                  <a:srgbClr val="222222"/>
                </a:solidFill>
              </a:rPr>
              <a:t>Repair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Split when point_index resets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Added segment_index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Recomputed ID, duration, t_norm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Updated GROUP_KEYS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31520" y="5715000"/>
            <a:ext cx="106070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800" b="1">
                <a:solidFill>
                  <a:srgbClr val="2F6B9A"/>
                </a:solidFill>
              </a:rPr>
              <a:t>Result: 7,525,267 rows | 43,470 segments | 41,431 usable non-error trials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800" b="1">
                <a:solidFill>
                  <a:srgbClr val="111111"/>
                </a:solidFill>
              </a:rPr>
              <a:t>Evaluation Setup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40080" y="1234440"/>
            <a:ext cx="3931920" cy="438912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000" b="0">
                <a:solidFill>
                  <a:srgbClr val="222222"/>
                </a:solidFill>
              </a:rPr>
              <a:t>Original Conditions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A ∈ {300, 301, 900, 901}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W ∈ {20, 50, 120}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12 A/W combinations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480560" y="1234440"/>
            <a:ext cx="3657600" cy="438912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000" b="0">
                <a:solidFill>
                  <a:srgbClr val="222222"/>
                </a:solidFill>
              </a:rPr>
              <a:t>Generation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temperature 0.0–0.9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20 samples per condition/temp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compare generated vs real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001000" y="1234440"/>
            <a:ext cx="3749039" cy="438912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000" b="0">
                <a:solidFill>
                  <a:srgbClr val="222222"/>
                </a:solidFill>
              </a:rPr>
              <a:t>Metrics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path length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max deviation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peak velocity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acceleration</a:t>
            </a:r>
            <a:endParaRPr/>
          </a:p>
          <a:p>
            <a:pPr marL="285750" indent="-171450">
              <a:buChar char="•"/>
            </a:pPr>
            <a:r>
              <a:rPr lang="en-US" sz="2000" b="0">
                <a:solidFill>
                  <a:srgbClr val="222222"/>
                </a:solidFill>
              </a:rPr>
              <a:t>jerk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800" b="1">
                <a:solidFill>
                  <a:srgbClr val="111111"/>
                </a:solidFill>
              </a:rPr>
              <a:t>Optimization History</a:t>
            </a:r>
          </a:p>
        </p:txBody>
      </p:sp>
      <p:sp>
        <p:nvSpPr>
          <p:cNvPr id="4" name="Rect 4"/>
          <p:cNvSpPr/>
          <p:nvPr/>
        </p:nvSpPr>
        <p:spPr>
          <a:xfrm>
            <a:off x="594360" y="1234440"/>
            <a:ext cx="2011680" cy="658368"/>
          </a:xfrm>
          <a:prstGeom prst="rect">
            <a:avLst/>
          </a:prstGeom>
          <a:solidFill>
            <a:srgbClr val="EEF3F8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640080" y="1271016"/>
            <a:ext cx="1920240" cy="60350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1">
                <a:solidFill>
                  <a:srgbClr val="222222"/>
                </a:solidFill>
              </a:rPr>
              <a:t>Model</a:t>
            </a:r>
          </a:p>
        </p:txBody>
      </p:sp>
      <p:sp>
        <p:nvSpPr>
          <p:cNvPr id="6" name="Rect 6"/>
          <p:cNvSpPr/>
          <p:nvPr/>
        </p:nvSpPr>
        <p:spPr>
          <a:xfrm>
            <a:off x="2606040" y="1234440"/>
            <a:ext cx="4023360" cy="658368"/>
          </a:xfrm>
          <a:prstGeom prst="rect">
            <a:avLst/>
          </a:prstGeom>
          <a:solidFill>
            <a:srgbClr val="EEF3F8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2651760" y="1271016"/>
            <a:ext cx="3931920" cy="60350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1">
                <a:solidFill>
                  <a:srgbClr val="222222"/>
                </a:solidFill>
              </a:rPr>
              <a:t>Main Change</a:t>
            </a:r>
          </a:p>
        </p:txBody>
      </p:sp>
      <p:sp>
        <p:nvSpPr>
          <p:cNvPr id="8" name="Rect 8"/>
          <p:cNvSpPr/>
          <p:nvPr/>
        </p:nvSpPr>
        <p:spPr>
          <a:xfrm>
            <a:off x="6629400" y="1234440"/>
            <a:ext cx="4937760" cy="658368"/>
          </a:xfrm>
          <a:prstGeom prst="rect">
            <a:avLst/>
          </a:prstGeom>
          <a:solidFill>
            <a:srgbClr val="EEF3F8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6675120" y="1271016"/>
            <a:ext cx="4846320" cy="60350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1">
                <a:solidFill>
                  <a:srgbClr val="222222"/>
                </a:solidFill>
              </a:rPr>
              <a:t>Outcome</a:t>
            </a:r>
          </a:p>
        </p:txBody>
      </p:sp>
      <p:sp>
        <p:nvSpPr>
          <p:cNvPr id="10" name="Rect 10"/>
          <p:cNvSpPr/>
          <p:nvPr/>
        </p:nvSpPr>
        <p:spPr>
          <a:xfrm>
            <a:off x="594360" y="1892808"/>
            <a:ext cx="20116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640080" y="1929384"/>
            <a:ext cx="1920240" cy="60350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Baseline</a:t>
            </a:r>
          </a:p>
        </p:txBody>
      </p:sp>
      <p:sp>
        <p:nvSpPr>
          <p:cNvPr id="12" name="Rect 12"/>
          <p:cNvSpPr/>
          <p:nvPr/>
        </p:nvSpPr>
        <p:spPr>
          <a:xfrm>
            <a:off x="2606040" y="1892808"/>
            <a:ext cx="4023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Box 13"/>
          <p:cNvSpPr txBox="1"/>
          <p:nvPr/>
        </p:nvSpPr>
        <p:spPr>
          <a:xfrm>
            <a:off x="2651760" y="1929384"/>
            <a:ext cx="3931920" cy="60350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CVAE+GRU, seq64</a:t>
            </a:r>
          </a:p>
        </p:txBody>
      </p:sp>
      <p:sp>
        <p:nvSpPr>
          <p:cNvPr id="14" name="Rect 14"/>
          <p:cNvSpPr/>
          <p:nvPr/>
        </p:nvSpPr>
        <p:spPr>
          <a:xfrm>
            <a:off x="6629400" y="1892808"/>
            <a:ext cx="4937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6675120" y="1929384"/>
            <a:ext cx="4846320" cy="60350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Too smooth</a:t>
            </a:r>
          </a:p>
        </p:txBody>
      </p:sp>
      <p:sp>
        <p:nvSpPr>
          <p:cNvPr id="16" name="Rect 16"/>
          <p:cNvSpPr/>
          <p:nvPr/>
        </p:nvSpPr>
        <p:spPr>
          <a:xfrm>
            <a:off x="594360" y="2551176"/>
            <a:ext cx="20116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Box 17"/>
          <p:cNvSpPr txBox="1"/>
          <p:nvPr/>
        </p:nvSpPr>
        <p:spPr>
          <a:xfrm>
            <a:off x="640080" y="2587752"/>
            <a:ext cx="1920240" cy="60350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Dynamic</a:t>
            </a:r>
          </a:p>
        </p:txBody>
      </p:sp>
      <p:sp>
        <p:nvSpPr>
          <p:cNvPr id="18" name="Rect 18"/>
          <p:cNvSpPr/>
          <p:nvPr/>
        </p:nvSpPr>
        <p:spPr>
          <a:xfrm>
            <a:off x="2606040" y="2551176"/>
            <a:ext cx="4023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2651760" y="2587752"/>
            <a:ext cx="3931920" cy="60350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900" b="0">
                <a:solidFill>
                  <a:srgbClr val="222222"/>
                </a:solidFill>
              </a:rPr>
              <a:t>Pointwise vel/acc loss</a:t>
            </a:r>
          </a:p>
        </p:txBody>
      </p:sp>
      <p:sp>
        <p:nvSpPr>
          <p:cNvPr id="20" name="Rect 20"/>
          <p:cNvSpPr/>
          <p:nvPr/>
        </p:nvSpPr>
        <p:spPr>
          <a:xfrm>
            <a:off x="6629400" y="2551176"/>
            <a:ext cx="4937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Box 21"/>
          <p:cNvSpPr txBox="1"/>
          <p:nvPr/>
        </p:nvSpPr>
        <p:spPr>
          <a:xfrm>
            <a:off x="6675120" y="2587752"/>
            <a:ext cx="4846320" cy="60350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900" b="0">
                <a:solidFill>
                  <a:srgbClr val="222222"/>
                </a:solidFill>
              </a:rPr>
              <a:t>Dynamics still collapsed</a:t>
            </a:r>
          </a:p>
        </p:txBody>
      </p:sp>
      <p:sp>
        <p:nvSpPr>
          <p:cNvPr id="22" name="Rect 22"/>
          <p:cNvSpPr/>
          <p:nvPr/>
        </p:nvSpPr>
        <p:spPr>
          <a:xfrm>
            <a:off x="594360" y="3209544"/>
            <a:ext cx="20116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Box 23"/>
          <p:cNvSpPr txBox="1"/>
          <p:nvPr/>
        </p:nvSpPr>
        <p:spPr>
          <a:xfrm>
            <a:off x="640080" y="3246120"/>
            <a:ext cx="1920240" cy="60350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Statistic</a:t>
            </a:r>
          </a:p>
        </p:txBody>
      </p:sp>
      <p:sp>
        <p:nvSpPr>
          <p:cNvPr id="24" name="Rect 24"/>
          <p:cNvSpPr/>
          <p:nvPr/>
        </p:nvSpPr>
        <p:spPr>
          <a:xfrm>
            <a:off x="2606040" y="3209544"/>
            <a:ext cx="4023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Box 25"/>
          <p:cNvSpPr txBox="1"/>
          <p:nvPr/>
        </p:nvSpPr>
        <p:spPr>
          <a:xfrm>
            <a:off x="2651760" y="3246120"/>
            <a:ext cx="3931920" cy="60350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900" b="0">
                <a:solidFill>
                  <a:srgbClr val="222222"/>
                </a:solidFill>
              </a:rPr>
              <a:t>Acc/jerk distribution loss</a:t>
            </a:r>
          </a:p>
        </p:txBody>
      </p:sp>
      <p:sp>
        <p:nvSpPr>
          <p:cNvPr id="26" name="Rect 26"/>
          <p:cNvSpPr/>
          <p:nvPr/>
        </p:nvSpPr>
        <p:spPr>
          <a:xfrm>
            <a:off x="6629400" y="3209544"/>
            <a:ext cx="4937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Box 27"/>
          <p:cNvSpPr txBox="1"/>
          <p:nvPr/>
        </p:nvSpPr>
        <p:spPr>
          <a:xfrm>
            <a:off x="6675120" y="3246120"/>
            <a:ext cx="4846320" cy="60350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Dynamics recovered</a:t>
            </a:r>
          </a:p>
        </p:txBody>
      </p:sp>
      <p:sp>
        <p:nvSpPr>
          <p:cNvPr id="28" name="Rect 28"/>
          <p:cNvSpPr/>
          <p:nvPr/>
        </p:nvSpPr>
        <p:spPr>
          <a:xfrm>
            <a:off x="594360" y="3867912"/>
            <a:ext cx="20116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Box 29"/>
          <p:cNvSpPr txBox="1"/>
          <p:nvPr/>
        </p:nvSpPr>
        <p:spPr>
          <a:xfrm>
            <a:off x="640080" y="3904488"/>
            <a:ext cx="1920240" cy="60350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Strong late</a:t>
            </a:r>
          </a:p>
        </p:txBody>
      </p:sp>
      <p:sp>
        <p:nvSpPr>
          <p:cNvPr id="30" name="Rect 30"/>
          <p:cNvSpPr/>
          <p:nvPr/>
        </p:nvSpPr>
        <p:spPr>
          <a:xfrm>
            <a:off x="2606040" y="3867912"/>
            <a:ext cx="4023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Box 31"/>
          <p:cNvSpPr txBox="1"/>
          <p:nvPr/>
        </p:nvSpPr>
        <p:spPr>
          <a:xfrm>
            <a:off x="2651760" y="3904488"/>
            <a:ext cx="3931920" cy="60350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900" b="0">
                <a:solidFill>
                  <a:srgbClr val="222222"/>
                </a:solidFill>
              </a:rPr>
              <a:t>Late correction loss</a:t>
            </a:r>
          </a:p>
        </p:txBody>
      </p:sp>
      <p:sp>
        <p:nvSpPr>
          <p:cNvPr id="32" name="Rect 32"/>
          <p:cNvSpPr/>
          <p:nvPr/>
        </p:nvSpPr>
        <p:spPr>
          <a:xfrm>
            <a:off x="6629400" y="3867912"/>
            <a:ext cx="4937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Box 33"/>
          <p:cNvSpPr txBox="1"/>
          <p:nvPr/>
        </p:nvSpPr>
        <p:spPr>
          <a:xfrm>
            <a:off x="6675120" y="3904488"/>
            <a:ext cx="4846320" cy="60350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900" b="0">
                <a:solidFill>
                  <a:srgbClr val="222222"/>
                </a:solidFill>
              </a:rPr>
              <a:t>Peak velocity explosion</a:t>
            </a:r>
          </a:p>
        </p:txBody>
      </p:sp>
      <p:sp>
        <p:nvSpPr>
          <p:cNvPr id="34" name="Rect 34"/>
          <p:cNvSpPr/>
          <p:nvPr/>
        </p:nvSpPr>
        <p:spPr>
          <a:xfrm>
            <a:off x="594360" y="4526279"/>
            <a:ext cx="20116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Box 35"/>
          <p:cNvSpPr txBox="1"/>
          <p:nvPr/>
        </p:nvSpPr>
        <p:spPr>
          <a:xfrm>
            <a:off x="640080" y="4562855"/>
            <a:ext cx="1920240" cy="60350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Late+peak</a:t>
            </a:r>
          </a:p>
        </p:txBody>
      </p:sp>
      <p:sp>
        <p:nvSpPr>
          <p:cNvPr id="36" name="Rect 36"/>
          <p:cNvSpPr/>
          <p:nvPr/>
        </p:nvSpPr>
        <p:spPr>
          <a:xfrm>
            <a:off x="2606040" y="4526279"/>
            <a:ext cx="4023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7"/>
          <p:cNvSpPr txBox="1"/>
          <p:nvPr/>
        </p:nvSpPr>
        <p:spPr>
          <a:xfrm>
            <a:off x="2651760" y="4562855"/>
            <a:ext cx="3931920" cy="60350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900" b="0">
                <a:solidFill>
                  <a:srgbClr val="222222"/>
                </a:solidFill>
              </a:rPr>
              <a:t>Weak late + peak control</a:t>
            </a:r>
          </a:p>
        </p:txBody>
      </p:sp>
      <p:sp>
        <p:nvSpPr>
          <p:cNvPr id="38" name="Rect 38"/>
          <p:cNvSpPr/>
          <p:nvPr/>
        </p:nvSpPr>
        <p:spPr>
          <a:xfrm>
            <a:off x="6629400" y="4526279"/>
            <a:ext cx="4937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Box 39"/>
          <p:cNvSpPr txBox="1"/>
          <p:nvPr/>
        </p:nvSpPr>
        <p:spPr>
          <a:xfrm>
            <a:off x="6675120" y="4562855"/>
            <a:ext cx="4846320" cy="60350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Current best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800" b="1">
                <a:solidFill>
                  <a:srgbClr val="111111"/>
                </a:solidFill>
              </a:rPr>
              <a:t>Quantitative Results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300" b="0">
                <a:solidFill>
                  <a:srgbClr val="555555"/>
                </a:solidFill>
              </a:rPr>
              <a:t>Ratios are generated / real. Closer to 1.0x is better.</a:t>
            </a:r>
          </a:p>
        </p:txBody>
      </p:sp>
      <p:sp>
        <p:nvSpPr>
          <p:cNvPr id="4" name="Rect 4"/>
          <p:cNvSpPr/>
          <p:nvPr/>
        </p:nvSpPr>
        <p:spPr>
          <a:xfrm>
            <a:off x="502920" y="1325880"/>
            <a:ext cx="2103120" cy="685800"/>
          </a:xfrm>
          <a:prstGeom prst="rect">
            <a:avLst/>
          </a:prstGeom>
          <a:solidFill>
            <a:srgbClr val="EEF3F8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548640" y="1362456"/>
            <a:ext cx="2011679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1">
                <a:solidFill>
                  <a:srgbClr val="222222"/>
                </a:solidFill>
              </a:rPr>
              <a:t>Model</a:t>
            </a:r>
          </a:p>
        </p:txBody>
      </p:sp>
      <p:sp>
        <p:nvSpPr>
          <p:cNvPr id="6" name="Rect 6"/>
          <p:cNvSpPr/>
          <p:nvPr/>
        </p:nvSpPr>
        <p:spPr>
          <a:xfrm>
            <a:off x="2606039" y="1325880"/>
            <a:ext cx="1051560" cy="685800"/>
          </a:xfrm>
          <a:prstGeom prst="rect">
            <a:avLst/>
          </a:prstGeom>
          <a:solidFill>
            <a:srgbClr val="EEF3F8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2651759" y="1362456"/>
            <a:ext cx="960119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1">
                <a:solidFill>
                  <a:srgbClr val="222222"/>
                </a:solidFill>
              </a:rPr>
              <a:t>Gap ↓</a:t>
            </a:r>
          </a:p>
        </p:txBody>
      </p:sp>
      <p:sp>
        <p:nvSpPr>
          <p:cNvPr id="8" name="Rect 8"/>
          <p:cNvSpPr/>
          <p:nvPr/>
        </p:nvSpPr>
        <p:spPr>
          <a:xfrm>
            <a:off x="3657600" y="1325880"/>
            <a:ext cx="1143000" cy="685800"/>
          </a:xfrm>
          <a:prstGeom prst="rect">
            <a:avLst/>
          </a:prstGeom>
          <a:solidFill>
            <a:srgbClr val="EEF3F8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3703320" y="13624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1">
                <a:solidFill>
                  <a:srgbClr val="222222"/>
                </a:solidFill>
              </a:rPr>
              <a:t>Path</a:t>
            </a:r>
          </a:p>
        </p:txBody>
      </p:sp>
      <p:sp>
        <p:nvSpPr>
          <p:cNvPr id="10" name="Rect 10"/>
          <p:cNvSpPr/>
          <p:nvPr/>
        </p:nvSpPr>
        <p:spPr>
          <a:xfrm>
            <a:off x="4800599" y="1325880"/>
            <a:ext cx="1143000" cy="685800"/>
          </a:xfrm>
          <a:prstGeom prst="rect">
            <a:avLst/>
          </a:prstGeom>
          <a:solidFill>
            <a:srgbClr val="EEF3F8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4846319" y="13624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1">
                <a:solidFill>
                  <a:srgbClr val="222222"/>
                </a:solidFill>
              </a:rPr>
              <a:t>Dev.</a:t>
            </a:r>
          </a:p>
        </p:txBody>
      </p:sp>
      <p:sp>
        <p:nvSpPr>
          <p:cNvPr id="12" name="Rect 12"/>
          <p:cNvSpPr/>
          <p:nvPr/>
        </p:nvSpPr>
        <p:spPr>
          <a:xfrm>
            <a:off x="5943599" y="1325880"/>
            <a:ext cx="1143000" cy="685800"/>
          </a:xfrm>
          <a:prstGeom prst="rect">
            <a:avLst/>
          </a:prstGeom>
          <a:solidFill>
            <a:srgbClr val="EEF3F8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Box 13"/>
          <p:cNvSpPr txBox="1"/>
          <p:nvPr/>
        </p:nvSpPr>
        <p:spPr>
          <a:xfrm>
            <a:off x="5989319" y="13624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1">
                <a:solidFill>
                  <a:srgbClr val="222222"/>
                </a:solidFill>
              </a:rPr>
              <a:t>Peak</a:t>
            </a:r>
          </a:p>
        </p:txBody>
      </p:sp>
      <p:sp>
        <p:nvSpPr>
          <p:cNvPr id="14" name="Rect 14"/>
          <p:cNvSpPr/>
          <p:nvPr/>
        </p:nvSpPr>
        <p:spPr>
          <a:xfrm>
            <a:off x="7086599" y="1325880"/>
            <a:ext cx="1143000" cy="685800"/>
          </a:xfrm>
          <a:prstGeom prst="rect">
            <a:avLst/>
          </a:prstGeom>
          <a:solidFill>
            <a:srgbClr val="EEF3F8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7132319" y="13624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1">
                <a:solidFill>
                  <a:srgbClr val="222222"/>
                </a:solidFill>
              </a:rPr>
              <a:t>Acc.</a:t>
            </a:r>
          </a:p>
        </p:txBody>
      </p:sp>
      <p:sp>
        <p:nvSpPr>
          <p:cNvPr id="16" name="Rect 16"/>
          <p:cNvSpPr/>
          <p:nvPr/>
        </p:nvSpPr>
        <p:spPr>
          <a:xfrm>
            <a:off x="8229600" y="1325880"/>
            <a:ext cx="1143000" cy="685800"/>
          </a:xfrm>
          <a:prstGeom prst="rect">
            <a:avLst/>
          </a:prstGeom>
          <a:solidFill>
            <a:srgbClr val="EEF3F8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Box 17"/>
          <p:cNvSpPr txBox="1"/>
          <p:nvPr/>
        </p:nvSpPr>
        <p:spPr>
          <a:xfrm>
            <a:off x="8275320" y="13624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1">
                <a:solidFill>
                  <a:srgbClr val="222222"/>
                </a:solidFill>
              </a:rPr>
              <a:t>Jerk</a:t>
            </a:r>
          </a:p>
        </p:txBody>
      </p:sp>
      <p:sp>
        <p:nvSpPr>
          <p:cNvPr id="18" name="Rect 18"/>
          <p:cNvSpPr/>
          <p:nvPr/>
        </p:nvSpPr>
        <p:spPr>
          <a:xfrm>
            <a:off x="502920" y="2011680"/>
            <a:ext cx="210312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548640" y="2048256"/>
            <a:ext cx="2011679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Dynamic</a:t>
            </a:r>
          </a:p>
        </p:txBody>
      </p:sp>
      <p:sp>
        <p:nvSpPr>
          <p:cNvPr id="20" name="Rect 20"/>
          <p:cNvSpPr/>
          <p:nvPr/>
        </p:nvSpPr>
        <p:spPr>
          <a:xfrm>
            <a:off x="2606039" y="2011680"/>
            <a:ext cx="10515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Box 21"/>
          <p:cNvSpPr txBox="1"/>
          <p:nvPr/>
        </p:nvSpPr>
        <p:spPr>
          <a:xfrm>
            <a:off x="2651759" y="2048256"/>
            <a:ext cx="960119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0.421</a:t>
            </a:r>
          </a:p>
        </p:txBody>
      </p:sp>
      <p:sp>
        <p:nvSpPr>
          <p:cNvPr id="22" name="Rect 22"/>
          <p:cNvSpPr/>
          <p:nvPr/>
        </p:nvSpPr>
        <p:spPr>
          <a:xfrm>
            <a:off x="3657600" y="2011680"/>
            <a:ext cx="1143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Box 23"/>
          <p:cNvSpPr txBox="1"/>
          <p:nvPr/>
        </p:nvSpPr>
        <p:spPr>
          <a:xfrm>
            <a:off x="3703320" y="20482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0.97x</a:t>
            </a:r>
          </a:p>
        </p:txBody>
      </p:sp>
      <p:sp>
        <p:nvSpPr>
          <p:cNvPr id="24" name="Rect 24"/>
          <p:cNvSpPr/>
          <p:nvPr/>
        </p:nvSpPr>
        <p:spPr>
          <a:xfrm>
            <a:off x="4800599" y="2011680"/>
            <a:ext cx="1143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Box 25"/>
          <p:cNvSpPr txBox="1"/>
          <p:nvPr/>
        </p:nvSpPr>
        <p:spPr>
          <a:xfrm>
            <a:off x="4846319" y="20482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0.79x</a:t>
            </a:r>
          </a:p>
        </p:txBody>
      </p:sp>
      <p:sp>
        <p:nvSpPr>
          <p:cNvPr id="26" name="Rect 26"/>
          <p:cNvSpPr/>
          <p:nvPr/>
        </p:nvSpPr>
        <p:spPr>
          <a:xfrm>
            <a:off x="5943599" y="2011680"/>
            <a:ext cx="1143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Box 27"/>
          <p:cNvSpPr txBox="1"/>
          <p:nvPr/>
        </p:nvSpPr>
        <p:spPr>
          <a:xfrm>
            <a:off x="5989319" y="20482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1.22x</a:t>
            </a:r>
          </a:p>
        </p:txBody>
      </p:sp>
      <p:sp>
        <p:nvSpPr>
          <p:cNvPr id="28" name="Rect 28"/>
          <p:cNvSpPr/>
          <p:nvPr/>
        </p:nvSpPr>
        <p:spPr>
          <a:xfrm>
            <a:off x="7086599" y="2011680"/>
            <a:ext cx="1143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Box 29"/>
          <p:cNvSpPr txBox="1"/>
          <p:nvPr/>
        </p:nvSpPr>
        <p:spPr>
          <a:xfrm>
            <a:off x="7132319" y="20482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0.24x</a:t>
            </a:r>
          </a:p>
        </p:txBody>
      </p:sp>
      <p:sp>
        <p:nvSpPr>
          <p:cNvPr id="30" name="Rect 30"/>
          <p:cNvSpPr/>
          <p:nvPr/>
        </p:nvSpPr>
        <p:spPr>
          <a:xfrm>
            <a:off x="8229600" y="2011680"/>
            <a:ext cx="1143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Box 31"/>
          <p:cNvSpPr txBox="1"/>
          <p:nvPr/>
        </p:nvSpPr>
        <p:spPr>
          <a:xfrm>
            <a:off x="8275320" y="20482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0.05x</a:t>
            </a:r>
          </a:p>
        </p:txBody>
      </p:sp>
      <p:sp>
        <p:nvSpPr>
          <p:cNvPr id="32" name="Rect 32"/>
          <p:cNvSpPr/>
          <p:nvPr/>
        </p:nvSpPr>
        <p:spPr>
          <a:xfrm>
            <a:off x="502920" y="2697480"/>
            <a:ext cx="210312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Box 33"/>
          <p:cNvSpPr txBox="1"/>
          <p:nvPr/>
        </p:nvSpPr>
        <p:spPr>
          <a:xfrm>
            <a:off x="548640" y="2734056"/>
            <a:ext cx="2011679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Statistic</a:t>
            </a:r>
          </a:p>
        </p:txBody>
      </p:sp>
      <p:sp>
        <p:nvSpPr>
          <p:cNvPr id="34" name="Rect 34"/>
          <p:cNvSpPr/>
          <p:nvPr/>
        </p:nvSpPr>
        <p:spPr>
          <a:xfrm>
            <a:off x="2606039" y="2697480"/>
            <a:ext cx="10515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Box 35"/>
          <p:cNvSpPr txBox="1"/>
          <p:nvPr/>
        </p:nvSpPr>
        <p:spPr>
          <a:xfrm>
            <a:off x="2651759" y="2734056"/>
            <a:ext cx="960119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0.233</a:t>
            </a:r>
          </a:p>
        </p:txBody>
      </p:sp>
      <p:sp>
        <p:nvSpPr>
          <p:cNvPr id="36" name="Rect 36"/>
          <p:cNvSpPr/>
          <p:nvPr/>
        </p:nvSpPr>
        <p:spPr>
          <a:xfrm>
            <a:off x="3657600" y="2697480"/>
            <a:ext cx="1143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7"/>
          <p:cNvSpPr txBox="1"/>
          <p:nvPr/>
        </p:nvSpPr>
        <p:spPr>
          <a:xfrm>
            <a:off x="3703320" y="27340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1.01x</a:t>
            </a:r>
          </a:p>
        </p:txBody>
      </p:sp>
      <p:sp>
        <p:nvSpPr>
          <p:cNvPr id="38" name="Rect 38"/>
          <p:cNvSpPr/>
          <p:nvPr/>
        </p:nvSpPr>
        <p:spPr>
          <a:xfrm>
            <a:off x="4800599" y="2697480"/>
            <a:ext cx="1143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Box 39"/>
          <p:cNvSpPr txBox="1"/>
          <p:nvPr/>
        </p:nvSpPr>
        <p:spPr>
          <a:xfrm>
            <a:off x="4846319" y="27340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0.73x</a:t>
            </a:r>
          </a:p>
        </p:txBody>
      </p:sp>
      <p:sp>
        <p:nvSpPr>
          <p:cNvPr id="40" name="Rect 40"/>
          <p:cNvSpPr/>
          <p:nvPr/>
        </p:nvSpPr>
        <p:spPr>
          <a:xfrm>
            <a:off x="5943599" y="2697480"/>
            <a:ext cx="1143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Box 41"/>
          <p:cNvSpPr txBox="1"/>
          <p:nvPr/>
        </p:nvSpPr>
        <p:spPr>
          <a:xfrm>
            <a:off x="5989319" y="27340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1.41x</a:t>
            </a:r>
          </a:p>
        </p:txBody>
      </p:sp>
      <p:sp>
        <p:nvSpPr>
          <p:cNvPr id="42" name="Rect 42"/>
          <p:cNvSpPr/>
          <p:nvPr/>
        </p:nvSpPr>
        <p:spPr>
          <a:xfrm>
            <a:off x="7086599" y="2697480"/>
            <a:ext cx="1143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Box 43"/>
          <p:cNvSpPr txBox="1"/>
          <p:nvPr/>
        </p:nvSpPr>
        <p:spPr>
          <a:xfrm>
            <a:off x="7132319" y="27340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0.72x</a:t>
            </a:r>
          </a:p>
        </p:txBody>
      </p:sp>
      <p:sp>
        <p:nvSpPr>
          <p:cNvPr id="44" name="Rect 44"/>
          <p:cNvSpPr/>
          <p:nvPr/>
        </p:nvSpPr>
        <p:spPr>
          <a:xfrm>
            <a:off x="8229600" y="2697480"/>
            <a:ext cx="1143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Box 45"/>
          <p:cNvSpPr txBox="1"/>
          <p:nvPr/>
        </p:nvSpPr>
        <p:spPr>
          <a:xfrm>
            <a:off x="8275320" y="27340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0.68x</a:t>
            </a:r>
          </a:p>
        </p:txBody>
      </p:sp>
      <p:sp>
        <p:nvSpPr>
          <p:cNvPr id="46" name="Rect 46"/>
          <p:cNvSpPr/>
          <p:nvPr/>
        </p:nvSpPr>
        <p:spPr>
          <a:xfrm>
            <a:off x="502920" y="3383280"/>
            <a:ext cx="210312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Box 47"/>
          <p:cNvSpPr txBox="1"/>
          <p:nvPr/>
        </p:nvSpPr>
        <p:spPr>
          <a:xfrm>
            <a:off x="548640" y="3419856"/>
            <a:ext cx="2011679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Strong late</a:t>
            </a:r>
          </a:p>
        </p:txBody>
      </p:sp>
      <p:sp>
        <p:nvSpPr>
          <p:cNvPr id="48" name="Rect 48"/>
          <p:cNvSpPr/>
          <p:nvPr/>
        </p:nvSpPr>
        <p:spPr>
          <a:xfrm>
            <a:off x="2606039" y="3383280"/>
            <a:ext cx="10515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Box 49"/>
          <p:cNvSpPr txBox="1"/>
          <p:nvPr/>
        </p:nvSpPr>
        <p:spPr>
          <a:xfrm>
            <a:off x="2651759" y="3419856"/>
            <a:ext cx="960119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0.416</a:t>
            </a:r>
          </a:p>
        </p:txBody>
      </p:sp>
      <p:sp>
        <p:nvSpPr>
          <p:cNvPr id="50" name="Rect 50"/>
          <p:cNvSpPr/>
          <p:nvPr/>
        </p:nvSpPr>
        <p:spPr>
          <a:xfrm>
            <a:off x="3657600" y="3383280"/>
            <a:ext cx="1143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Box 51"/>
          <p:cNvSpPr txBox="1"/>
          <p:nvPr/>
        </p:nvSpPr>
        <p:spPr>
          <a:xfrm>
            <a:off x="3703320" y="34198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1.02x</a:t>
            </a:r>
          </a:p>
        </p:txBody>
      </p:sp>
      <p:sp>
        <p:nvSpPr>
          <p:cNvPr id="52" name="Rect 52"/>
          <p:cNvSpPr/>
          <p:nvPr/>
        </p:nvSpPr>
        <p:spPr>
          <a:xfrm>
            <a:off x="4800599" y="3383280"/>
            <a:ext cx="1143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Box 53"/>
          <p:cNvSpPr txBox="1"/>
          <p:nvPr/>
        </p:nvSpPr>
        <p:spPr>
          <a:xfrm>
            <a:off x="4846319" y="34198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0.97x</a:t>
            </a:r>
          </a:p>
        </p:txBody>
      </p:sp>
      <p:sp>
        <p:nvSpPr>
          <p:cNvPr id="54" name="Rect 54"/>
          <p:cNvSpPr/>
          <p:nvPr/>
        </p:nvSpPr>
        <p:spPr>
          <a:xfrm>
            <a:off x="5943599" y="3383280"/>
            <a:ext cx="1143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Box 55"/>
          <p:cNvSpPr txBox="1"/>
          <p:nvPr/>
        </p:nvSpPr>
        <p:spPr>
          <a:xfrm>
            <a:off x="5989319" y="34198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2.24x</a:t>
            </a:r>
          </a:p>
        </p:txBody>
      </p:sp>
      <p:sp>
        <p:nvSpPr>
          <p:cNvPr id="56" name="Rect 56"/>
          <p:cNvSpPr/>
          <p:nvPr/>
        </p:nvSpPr>
        <p:spPr>
          <a:xfrm>
            <a:off x="7086599" y="3383280"/>
            <a:ext cx="1143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Box 57"/>
          <p:cNvSpPr txBox="1"/>
          <p:nvPr/>
        </p:nvSpPr>
        <p:spPr>
          <a:xfrm>
            <a:off x="7132319" y="34198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0.88x</a:t>
            </a:r>
          </a:p>
        </p:txBody>
      </p:sp>
      <p:sp>
        <p:nvSpPr>
          <p:cNvPr id="58" name="Rect 58"/>
          <p:cNvSpPr/>
          <p:nvPr/>
        </p:nvSpPr>
        <p:spPr>
          <a:xfrm>
            <a:off x="8229600" y="3383280"/>
            <a:ext cx="1143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Box 59"/>
          <p:cNvSpPr txBox="1"/>
          <p:nvPr/>
        </p:nvSpPr>
        <p:spPr>
          <a:xfrm>
            <a:off x="8275320" y="34198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0.75x</a:t>
            </a:r>
          </a:p>
        </p:txBody>
      </p:sp>
      <p:sp>
        <p:nvSpPr>
          <p:cNvPr id="60" name="Rect 60"/>
          <p:cNvSpPr/>
          <p:nvPr/>
        </p:nvSpPr>
        <p:spPr>
          <a:xfrm>
            <a:off x="502920" y="4069080"/>
            <a:ext cx="210312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Box 61"/>
          <p:cNvSpPr txBox="1"/>
          <p:nvPr/>
        </p:nvSpPr>
        <p:spPr>
          <a:xfrm>
            <a:off x="548640" y="4105656"/>
            <a:ext cx="2011679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Late+peak</a:t>
            </a:r>
          </a:p>
        </p:txBody>
      </p:sp>
      <p:sp>
        <p:nvSpPr>
          <p:cNvPr id="62" name="Rect 62"/>
          <p:cNvSpPr/>
          <p:nvPr/>
        </p:nvSpPr>
        <p:spPr>
          <a:xfrm>
            <a:off x="2606039" y="4069080"/>
            <a:ext cx="10515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Box 63"/>
          <p:cNvSpPr txBox="1"/>
          <p:nvPr/>
        </p:nvSpPr>
        <p:spPr>
          <a:xfrm>
            <a:off x="2651759" y="4105656"/>
            <a:ext cx="960119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0.156</a:t>
            </a:r>
          </a:p>
        </p:txBody>
      </p:sp>
      <p:sp>
        <p:nvSpPr>
          <p:cNvPr id="64" name="Rect 64"/>
          <p:cNvSpPr/>
          <p:nvPr/>
        </p:nvSpPr>
        <p:spPr>
          <a:xfrm>
            <a:off x="3657600" y="4069080"/>
            <a:ext cx="1143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Box 65"/>
          <p:cNvSpPr txBox="1"/>
          <p:nvPr/>
        </p:nvSpPr>
        <p:spPr>
          <a:xfrm>
            <a:off x="3703320" y="41056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1.03x</a:t>
            </a:r>
          </a:p>
        </p:txBody>
      </p:sp>
      <p:sp>
        <p:nvSpPr>
          <p:cNvPr id="66" name="Rect 66"/>
          <p:cNvSpPr/>
          <p:nvPr/>
        </p:nvSpPr>
        <p:spPr>
          <a:xfrm>
            <a:off x="4800599" y="4069080"/>
            <a:ext cx="1143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Box 67"/>
          <p:cNvSpPr txBox="1"/>
          <p:nvPr/>
        </p:nvSpPr>
        <p:spPr>
          <a:xfrm>
            <a:off x="4846319" y="41056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0.97x</a:t>
            </a:r>
          </a:p>
        </p:txBody>
      </p:sp>
      <p:sp>
        <p:nvSpPr>
          <p:cNvPr id="68" name="Rect 68"/>
          <p:cNvSpPr/>
          <p:nvPr/>
        </p:nvSpPr>
        <p:spPr>
          <a:xfrm>
            <a:off x="5943599" y="4069080"/>
            <a:ext cx="1143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9"/>
          <p:cNvSpPr txBox="1"/>
          <p:nvPr/>
        </p:nvSpPr>
        <p:spPr>
          <a:xfrm>
            <a:off x="5989319" y="41056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1.18x</a:t>
            </a:r>
          </a:p>
        </p:txBody>
      </p:sp>
      <p:sp>
        <p:nvSpPr>
          <p:cNvPr id="70" name="Rect 70"/>
          <p:cNvSpPr/>
          <p:nvPr/>
        </p:nvSpPr>
        <p:spPr>
          <a:xfrm>
            <a:off x="7086599" y="4069080"/>
            <a:ext cx="1143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Box 71"/>
          <p:cNvSpPr txBox="1"/>
          <p:nvPr/>
        </p:nvSpPr>
        <p:spPr>
          <a:xfrm>
            <a:off x="7132319" y="41056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0.79x</a:t>
            </a:r>
          </a:p>
        </p:txBody>
      </p:sp>
      <p:sp>
        <p:nvSpPr>
          <p:cNvPr id="72" name="Rect 72"/>
          <p:cNvSpPr/>
          <p:nvPr/>
        </p:nvSpPr>
        <p:spPr>
          <a:xfrm>
            <a:off x="8229600" y="4069080"/>
            <a:ext cx="11430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Box 73"/>
          <p:cNvSpPr txBox="1"/>
          <p:nvPr/>
        </p:nvSpPr>
        <p:spPr>
          <a:xfrm>
            <a:off x="8275320" y="4105656"/>
            <a:ext cx="105156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000" b="0">
                <a:solidFill>
                  <a:srgbClr val="222222"/>
                </a:solidFill>
              </a:rPr>
              <a:t>0.69x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700" b="1">
                <a:solidFill>
                  <a:srgbClr val="2F6B9A"/>
                </a:solidFill>
              </a:rPr>
              <a:t>Late+peak gives the best overall balance: shape, deviation, and velocity are close to real data.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800" b="1">
                <a:solidFill>
                  <a:srgbClr val="111111"/>
                </a:solidFill>
              </a:rPr>
              <a:t>Trajectory Evolution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300" b="0">
                <a:solidFill>
                  <a:srgbClr val="555555"/>
                </a:solidFill>
              </a:rPr>
              <a:t>Real data → baseline → optimized models</a:t>
            </a:r>
          </a:p>
        </p:txBody>
      </p:sp>
      <p:pic>
        <p:nvPicPr>
          <p:cNvPr id="4" name="Picture 4"/>
          <p:cNvPicPr/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11658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800" b="1">
                <a:solidFill>
                  <a:srgbClr val="111111"/>
                </a:solidFill>
              </a:rPr>
              <a:t>Current Best: Condition-Level Evaluation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300" b="0">
                <a:solidFill>
                  <a:srgbClr val="555555"/>
                </a:solidFill>
              </a:rPr>
              <a:t>Weak late dynamics + peak velocity control</a:t>
            </a:r>
          </a:p>
        </p:txBody>
      </p:sp>
      <p:pic>
        <p:nvPicPr>
          <p:cNvPr id="4" name="Picture 4"/>
          <p:cNvPicPr/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1078992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800" b="1">
                <a:solidFill>
                  <a:srgbClr val="111111"/>
                </a:solidFill>
              </a:rPr>
              <a:t>Current Best: Generated Trajectories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1300" b="0">
                <a:solidFill>
                  <a:srgbClr val="555555"/>
                </a:solidFill>
              </a:rPr>
              <a:t>Temperature = 0.5, original A/W conditions</a:t>
            </a:r>
          </a:p>
        </p:txBody>
      </p:sp>
      <p:pic>
        <p:nvPicPr>
          <p:cNvPr id="4" name="Picture 4"/>
          <p:cNvPicPr/>
          <p:nvPr/>
        </p:nvPicPr>
        <p:blipFill>
          <a:blip r:embed="rId2"/>
          <a:stretch>
            <a:fillRect/>
          </a:stretch>
        </p:blipFill>
        <p:spPr>
          <a:xfrm>
            <a:off x="228600" y="1051560"/>
            <a:ext cx="117500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800" b="1">
                <a:solidFill>
                  <a:srgbClr val="111111"/>
                </a:solidFill>
              </a:rPr>
              <a:t>Similarity to Real Data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1234440"/>
            <a:ext cx="5303520" cy="429768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100" b="0">
                <a:solidFill>
                  <a:srgbClr val="222222"/>
                </a:solidFill>
              </a:rPr>
              <a:t>Well matched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Path length: 1.03x real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Max deviation: 0.97x real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Peak velocity: 1.18x real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Condition-dependent shapes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400800" y="1234440"/>
            <a:ext cx="4846320" cy="429768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100" b="0">
                <a:solidFill>
                  <a:srgbClr val="222222"/>
                </a:solidFill>
              </a:rPr>
              <a:t>Remaining gaps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Acceleration: 0.79x real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Jerk: 0.69x real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Weakest: short distance + wide target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Some loop-like samples remain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800" b="1">
                <a:solidFill>
                  <a:srgbClr val="111111"/>
                </a:solidFill>
              </a:rPr>
              <a:t>Key Insights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31520" y="1188720"/>
            <a:ext cx="10789920" cy="4480560"/>
          </a:xfrm>
          <a:prstGeom prst="rect">
            <a:avLst/>
          </a:prstGeom>
          <a:noFill/>
        </p:spPr>
        <p:txBody>
          <a:bodyPr wrap="square" anchor="t"/>
          <a:lstStyle/>
          <a:p>
            <a:pPr marL="285750" indent="-171450">
              <a:buChar char="•"/>
            </a:pPr>
            <a:r>
              <a:rPr lang="en-US" sz="2300" b="0">
                <a:solidFill>
                  <a:srgbClr val="222222"/>
                </a:solidFill>
              </a:rPr>
              <a:t>Position loss alone is not enough for human-like trajectories</a:t>
            </a:r>
            <a:endParaRPr/>
          </a:p>
          <a:p>
            <a:pPr marL="285750" indent="-171450">
              <a:buChar char="•"/>
            </a:pPr>
            <a:r>
              <a:rPr lang="en-US" sz="2300" b="0">
                <a:solidFill>
                  <a:srgbClr val="222222"/>
                </a:solidFill>
              </a:rPr>
              <a:t>Pointwise dynamic losses can average out micro-adjustments</a:t>
            </a:r>
            <a:endParaRPr/>
          </a:p>
          <a:p>
            <a:pPr marL="285750" indent="-171450">
              <a:buChar char="•"/>
            </a:pPr>
            <a:r>
              <a:rPr lang="en-US" sz="2300" b="0">
                <a:solidFill>
                  <a:srgbClr val="222222"/>
                </a:solidFill>
              </a:rPr>
              <a:t>Distribution-level acceleration and jerk losses are more effective</a:t>
            </a:r>
            <a:endParaRPr/>
          </a:p>
          <a:p>
            <a:pPr marL="285750" indent="-171450">
              <a:buChar char="•"/>
            </a:pPr>
            <a:r>
              <a:rPr lang="en-US" sz="2300" b="0">
                <a:solidFill>
                  <a:srgbClr val="222222"/>
                </a:solidFill>
              </a:rPr>
              <a:t>Late correction must be weak and paired with peak velocity control</a:t>
            </a:r>
            <a:endParaRPr/>
          </a:p>
          <a:p>
            <a:pPr marL="285750" indent="-171450">
              <a:buChar char="•"/>
            </a:pPr>
            <a:r>
              <a:rPr lang="en-US" sz="2300" b="0">
                <a:solidFill>
                  <a:srgbClr val="222222"/>
                </a:solidFill>
              </a:rPr>
              <a:t>Current best balances trajectory shape and dynamics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800" b="1">
                <a:solidFill>
                  <a:srgbClr val="111111"/>
                </a:solidFill>
              </a:rPr>
              <a:t>Applications and Expected Impact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1234440"/>
            <a:ext cx="5303520" cy="438912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100" b="0">
                <a:solidFill>
                  <a:srgbClr val="222222"/>
                </a:solidFill>
              </a:rPr>
              <a:t>Applications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Human-like cursor simulation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HCI pointing task modeling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Synthetic trajectory generation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Adaptive UI / accessibility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400800" y="1234440"/>
            <a:ext cx="4846320" cy="438912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buNone/>
            </a:pPr>
            <a:r>
              <a:rPr lang="en-US" sz="2100" b="0">
                <a:solidFill>
                  <a:srgbClr val="222222"/>
                </a:solidFill>
              </a:rPr>
              <a:t>Expected Impact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Fewer real trials needed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Condition-aware movement synthesis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Richer interaction simulation</a:t>
            </a:r>
            <a:endParaRPr/>
          </a:p>
          <a:p>
            <a:pPr marL="285750" indent="-171450">
              <a:buChar char="•"/>
            </a:pPr>
            <a:r>
              <a:rPr lang="en-US" sz="2100" b="0">
                <a:solidFill>
                  <a:srgbClr val="222222"/>
                </a:solidFill>
              </a:rPr>
              <a:t>Better evaluation of target designs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150000"/>
          </a:lnSpc>
          <a:defRPr sz="2400" dirty="0" smtClean="0">
            <a:latin typeface="AppleSDGothicNeoL00" panose="02000503000000000000" pitchFamily="2" charset="-127"/>
            <a:ea typeface="AppleSDGothicNeoL00" panose="02000503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</TotalTime>
  <Words>771</Words>
  <Application>Microsoft Office PowerPoint</Application>
  <PresentationFormat>와이드스크린</PresentationFormat>
  <Paragraphs>184</Paragraphs>
  <Slides>16</Slides>
  <Notes>3</Notes>
  <HiddenSlides>0</HiddenSlides>
  <MMClips>1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AppleSDGothicNeoB00</vt:lpstr>
      <vt:lpstr>AppleSDGothicNeoL00</vt:lpstr>
      <vt:lpstr>맑은 고딕</vt:lpstr>
      <vt:lpstr>Arial</vt:lpstr>
      <vt:lpstr>Office 테마</vt:lpstr>
      <vt:lpstr>26.06.10. Term Project Presentation Generating Human-Like Mouse Cursor Trajectories from Fitts’ Law Task Data Using CVAE-GRU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Mouse Trajectory Generation Model</dc:title>
  <dc:creator>Codex</dc:creator>
  <cp:lastModifiedBy>백민혁</cp:lastModifiedBy>
  <cp:revision>18</cp:revision>
  <dcterms:modified xsi:type="dcterms:W3CDTF">2026-06-09T10:25:40Z</dcterms:modified>
</cp:coreProperties>
</file>