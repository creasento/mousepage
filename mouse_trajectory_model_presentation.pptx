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695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model_optimization_trajectory_evolution_with_real_yexpanded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evaluation_heatmap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trajectory_grid_temp0p5_points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Human-Like Mouse Trajectory Generation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300" b="0">
                <a:solidFill>
                  <a:srgbClr val="555555"/>
                </a:solidFill>
              </a:rPr>
              <a:t>Conditional generative modeling of Fitts-task cursor movements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" y="2011680"/>
            <a:ext cx="5577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200" b="1">
                <a:solidFill>
                  <a:srgbClr val="222222"/>
                </a:solidFill>
              </a:rPr>
              <a:t>CVAE + GRU trajectory generator</a:t>
            </a:r>
            <a:endParaRPr/>
          </a:p>
          <a:p>
            <a:pPr>
              <a:buNone/>
            </a:pPr>
            <a:r>
              <a:rPr lang="en-US" sz="2200" b="1">
                <a:solidFill>
                  <a:srgbClr val="222222"/>
                </a:solidFill>
              </a:rPr>
              <a:t>Conditioned on A, W, ID, duration</a:t>
            </a:r>
            <a:endParaRPr/>
          </a:p>
          <a:p>
            <a:pPr>
              <a:buNone/>
            </a:pPr>
            <a:r>
              <a:rPr lang="en-US" sz="2200" b="1">
                <a:solidFill>
                  <a:srgbClr val="222222"/>
                </a:solidFill>
              </a:rPr>
              <a:t>Evaluated against original A/W task conditions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92240" y="2057400"/>
            <a:ext cx="47548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800" b="0">
                <a:solidFill>
                  <a:srgbClr val="222222"/>
                </a:solidFill>
              </a:rPr>
              <a:t>Key result</a:t>
            </a:r>
            <a:endParaRPr/>
          </a:p>
          <a:p>
            <a:pPr marL="285750" indent="-171450">
              <a:buChar char="•"/>
            </a:pPr>
            <a:r>
              <a:rPr lang="en-US" sz="1800" b="0">
                <a:solidFill>
                  <a:srgbClr val="222222"/>
                </a:solidFill>
              </a:rPr>
              <a:t>Current best: weak late dynamics + peak velocity control</a:t>
            </a:r>
            <a:endParaRPr/>
          </a:p>
          <a:p>
            <a:pPr marL="285750" indent="-171450">
              <a:buChar char="•"/>
            </a:pPr>
            <a:r>
              <a:rPr lang="en-US" sz="1800" b="0">
                <a:solidFill>
                  <a:srgbClr val="222222"/>
                </a:solidFill>
              </a:rPr>
              <a:t>Mean gap: 0.156</a:t>
            </a:r>
            <a:endParaRPr/>
          </a:p>
          <a:p>
            <a:pPr marL="285750" indent="-171450">
              <a:buChar char="•"/>
            </a:pPr>
            <a:r>
              <a:rPr lang="en-US" sz="1800" b="0">
                <a:solidFill>
                  <a:srgbClr val="222222"/>
                </a:solidFill>
              </a:rPr>
              <a:t>Path/deviation close to real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Model: Conditional CVAE + GRU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300" b="0">
                <a:solidFill>
                  <a:srgbClr val="555555"/>
                </a:solidFill>
              </a:rPr>
              <a:t>Generate normalized trajectories under movement conditions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417320"/>
            <a:ext cx="3657600" cy="3749039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000" b="0">
                <a:solidFill>
                  <a:srgbClr val="222222"/>
                </a:solidFill>
              </a:rPr>
              <a:t>Inputs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A: movement distance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W: target width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ID: difficulty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duration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43400" y="1417320"/>
            <a:ext cx="3474720" cy="3749039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000" b="0">
                <a:solidFill>
                  <a:srgbClr val="222222"/>
                </a:solidFill>
              </a:rPr>
              <a:t>Model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Encoder: GRU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Latent z: trajectory variation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Decoder: GRU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Endpoint constrained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01000" y="1417320"/>
            <a:ext cx="3566160" cy="3749039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000" b="0">
                <a:solidFill>
                  <a:srgbClr val="222222"/>
                </a:solidFill>
              </a:rPr>
              <a:t>Output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Normalized path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start=(0,0)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target=(1,0)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remapped to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Why This Model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1325880"/>
            <a:ext cx="5029200" cy="429768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100" b="0">
                <a:solidFill>
                  <a:srgbClr val="222222"/>
                </a:solidFill>
              </a:rPr>
              <a:t>CVAE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Same condition has many valid human paths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Latent space captures movement variation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Supports conditional sampling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63640" y="1325880"/>
            <a:ext cx="5029200" cy="429768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100" b="0">
                <a:solidFill>
                  <a:srgbClr val="222222"/>
                </a:solidFill>
              </a:rPr>
              <a:t>GRU Decoder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Trajectories are sequential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Generates time-ordered points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Lightweight and stable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Data Repair and Normalization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1234440"/>
            <a:ext cx="5303520" cy="43891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000" b="0">
                <a:solidFill>
                  <a:srgbClr val="222222"/>
                </a:solidFill>
              </a:rPr>
              <a:t>Issue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CSV lacked enough trial identity columns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Multiple original trajectories were merged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ID, duration, t_norm were missing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0" y="1234440"/>
            <a:ext cx="4937760" cy="43891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000" b="0">
                <a:solidFill>
                  <a:srgbClr val="222222"/>
                </a:solidFill>
              </a:rPr>
              <a:t>Repair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Split when point_index resets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Added segment_index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Recomputed ID, duration, t_norm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Updated GROUP_KEYS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520" y="5715000"/>
            <a:ext cx="10607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800" b="1">
                <a:solidFill>
                  <a:srgbClr val="2F6B9A"/>
                </a:solidFill>
              </a:rPr>
              <a:t>Result: 7,525,267 rows | 43,470 segments | 41,431 usable non-error trials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Evaluation Setup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234440"/>
            <a:ext cx="3931920" cy="43891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000" b="0">
                <a:solidFill>
                  <a:srgbClr val="222222"/>
                </a:solidFill>
              </a:rPr>
              <a:t>Original Conditions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A ∈ {300, 301, 900, 901}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W ∈ {20, 50, 120}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12 A/W combinations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80560" y="1234440"/>
            <a:ext cx="3657600" cy="43891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000" b="0">
                <a:solidFill>
                  <a:srgbClr val="222222"/>
                </a:solidFill>
              </a:rPr>
              <a:t>Generation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temperature 0.0–0.9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20 samples per condition/temp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compare generated vs real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01000" y="1234440"/>
            <a:ext cx="3749039" cy="43891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000" b="0">
                <a:solidFill>
                  <a:srgbClr val="222222"/>
                </a:solidFill>
              </a:rPr>
              <a:t>Metrics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path length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max deviation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peak velocity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acceleration</a:t>
            </a:r>
            <a:endParaRPr/>
          </a:p>
          <a:p>
            <a:pPr marL="285750" indent="-171450">
              <a:buChar char="•"/>
            </a:pPr>
            <a:r>
              <a:rPr lang="en-US" sz="2000" b="0">
                <a:solidFill>
                  <a:srgbClr val="222222"/>
                </a:solidFill>
              </a:rPr>
              <a:t>jerk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Optimization History</a:t>
            </a:r>
          </a:p>
        </p:txBody>
      </p:sp>
      <p:sp>
        <p:nvSpPr>
          <p:cNvPr id="4" name="Rect 4"/>
          <p:cNvSpPr/>
          <p:nvPr/>
        </p:nvSpPr>
        <p:spPr>
          <a:xfrm>
            <a:off x="594360" y="1234440"/>
            <a:ext cx="2011680" cy="658368"/>
          </a:xfrm>
          <a:prstGeom prst="rect">
            <a:avLst/>
          </a:prstGeom>
          <a:solidFill>
            <a:srgbClr val="EEF3F8"/>
          </a:solidFill>
          <a:ln w="9525">
            <a:solidFill>
              <a:srgbClr val="D9DEE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40080" y="1271016"/>
            <a:ext cx="192024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1">
                <a:solidFill>
                  <a:srgbClr val="222222"/>
                </a:solidFill>
              </a:rPr>
              <a:t>Model</a:t>
            </a:r>
          </a:p>
        </p:txBody>
      </p:sp>
      <p:sp>
        <p:nvSpPr>
          <p:cNvPr id="6" name="Rect 6"/>
          <p:cNvSpPr/>
          <p:nvPr/>
        </p:nvSpPr>
        <p:spPr>
          <a:xfrm>
            <a:off x="2606040" y="1234440"/>
            <a:ext cx="4023360" cy="658368"/>
          </a:xfrm>
          <a:prstGeom prst="rect">
            <a:avLst/>
          </a:prstGeom>
          <a:solidFill>
            <a:srgbClr val="EEF3F8"/>
          </a:solidFill>
          <a:ln w="9525">
            <a:solidFill>
              <a:srgbClr val="D9DE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651760" y="1271016"/>
            <a:ext cx="393192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1">
                <a:solidFill>
                  <a:srgbClr val="222222"/>
                </a:solidFill>
              </a:rPr>
              <a:t>Main Change</a:t>
            </a:r>
          </a:p>
        </p:txBody>
      </p:sp>
      <p:sp>
        <p:nvSpPr>
          <p:cNvPr id="8" name="Rect 8"/>
          <p:cNvSpPr/>
          <p:nvPr/>
        </p:nvSpPr>
        <p:spPr>
          <a:xfrm>
            <a:off x="6629400" y="1234440"/>
            <a:ext cx="4937760" cy="658368"/>
          </a:xfrm>
          <a:prstGeom prst="rect">
            <a:avLst/>
          </a:prstGeom>
          <a:solidFill>
            <a:srgbClr val="EEF3F8"/>
          </a:solidFill>
          <a:ln w="9525">
            <a:solidFill>
              <a:srgbClr val="D9DEE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675120" y="1271016"/>
            <a:ext cx="484632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1">
                <a:solidFill>
                  <a:srgbClr val="222222"/>
                </a:solidFill>
              </a:rPr>
              <a:t>Outcome</a:t>
            </a:r>
          </a:p>
        </p:txBody>
      </p:sp>
      <p:sp>
        <p:nvSpPr>
          <p:cNvPr id="10" name="Rect 10"/>
          <p:cNvSpPr/>
          <p:nvPr/>
        </p:nvSpPr>
        <p:spPr>
          <a:xfrm>
            <a:off x="594360" y="1892808"/>
            <a:ext cx="2011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40080" y="1929384"/>
            <a:ext cx="192024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Baseline</a:t>
            </a:r>
          </a:p>
        </p:txBody>
      </p:sp>
      <p:sp>
        <p:nvSpPr>
          <p:cNvPr id="12" name="Rect 12"/>
          <p:cNvSpPr/>
          <p:nvPr/>
        </p:nvSpPr>
        <p:spPr>
          <a:xfrm>
            <a:off x="2606040" y="1892808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651760" y="1929384"/>
            <a:ext cx="393192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CVAE+GRU, seq64</a:t>
            </a:r>
          </a:p>
        </p:txBody>
      </p:sp>
      <p:sp>
        <p:nvSpPr>
          <p:cNvPr id="14" name="Rect 14"/>
          <p:cNvSpPr/>
          <p:nvPr/>
        </p:nvSpPr>
        <p:spPr>
          <a:xfrm>
            <a:off x="6629400" y="1892808"/>
            <a:ext cx="4937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675120" y="1929384"/>
            <a:ext cx="484632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Too smooth</a:t>
            </a:r>
          </a:p>
        </p:txBody>
      </p:sp>
      <p:sp>
        <p:nvSpPr>
          <p:cNvPr id="16" name="Rect 16"/>
          <p:cNvSpPr/>
          <p:nvPr/>
        </p:nvSpPr>
        <p:spPr>
          <a:xfrm>
            <a:off x="594360" y="2551176"/>
            <a:ext cx="2011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40080" y="2587752"/>
            <a:ext cx="192024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Dynamic</a:t>
            </a:r>
          </a:p>
        </p:txBody>
      </p:sp>
      <p:sp>
        <p:nvSpPr>
          <p:cNvPr id="18" name="Rect 18"/>
          <p:cNvSpPr/>
          <p:nvPr/>
        </p:nvSpPr>
        <p:spPr>
          <a:xfrm>
            <a:off x="2606040" y="2551176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651760" y="2587752"/>
            <a:ext cx="393192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900" b="0">
                <a:solidFill>
                  <a:srgbClr val="222222"/>
                </a:solidFill>
              </a:rPr>
              <a:t>Pointwise vel/acc loss</a:t>
            </a:r>
          </a:p>
        </p:txBody>
      </p:sp>
      <p:sp>
        <p:nvSpPr>
          <p:cNvPr id="20" name="Rect 20"/>
          <p:cNvSpPr/>
          <p:nvPr/>
        </p:nvSpPr>
        <p:spPr>
          <a:xfrm>
            <a:off x="6629400" y="2551176"/>
            <a:ext cx="4937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75120" y="2587752"/>
            <a:ext cx="484632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900" b="0">
                <a:solidFill>
                  <a:srgbClr val="222222"/>
                </a:solidFill>
              </a:rPr>
              <a:t>Dynamics still collapsed</a:t>
            </a:r>
          </a:p>
        </p:txBody>
      </p:sp>
      <p:sp>
        <p:nvSpPr>
          <p:cNvPr id="22" name="Rect 22"/>
          <p:cNvSpPr/>
          <p:nvPr/>
        </p:nvSpPr>
        <p:spPr>
          <a:xfrm>
            <a:off x="594360" y="3209544"/>
            <a:ext cx="2011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0080" y="3246120"/>
            <a:ext cx="192024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Statistic</a:t>
            </a:r>
          </a:p>
        </p:txBody>
      </p:sp>
      <p:sp>
        <p:nvSpPr>
          <p:cNvPr id="24" name="Rect 24"/>
          <p:cNvSpPr/>
          <p:nvPr/>
        </p:nvSpPr>
        <p:spPr>
          <a:xfrm>
            <a:off x="2606040" y="3209544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2651760" y="3246120"/>
            <a:ext cx="393192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900" b="0">
                <a:solidFill>
                  <a:srgbClr val="222222"/>
                </a:solidFill>
              </a:rPr>
              <a:t>Acc/jerk distribution loss</a:t>
            </a:r>
          </a:p>
        </p:txBody>
      </p:sp>
      <p:sp>
        <p:nvSpPr>
          <p:cNvPr id="26" name="Rect 26"/>
          <p:cNvSpPr/>
          <p:nvPr/>
        </p:nvSpPr>
        <p:spPr>
          <a:xfrm>
            <a:off x="6629400" y="3209544"/>
            <a:ext cx="4937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675120" y="3246120"/>
            <a:ext cx="484632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Dynamics recovered</a:t>
            </a:r>
          </a:p>
        </p:txBody>
      </p:sp>
      <p:sp>
        <p:nvSpPr>
          <p:cNvPr id="28" name="Rect 28"/>
          <p:cNvSpPr/>
          <p:nvPr/>
        </p:nvSpPr>
        <p:spPr>
          <a:xfrm>
            <a:off x="594360" y="3867912"/>
            <a:ext cx="2011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40080" y="3904488"/>
            <a:ext cx="192024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Strong late</a:t>
            </a:r>
          </a:p>
        </p:txBody>
      </p:sp>
      <p:sp>
        <p:nvSpPr>
          <p:cNvPr id="30" name="Rect 30"/>
          <p:cNvSpPr/>
          <p:nvPr/>
        </p:nvSpPr>
        <p:spPr>
          <a:xfrm>
            <a:off x="2606040" y="3867912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2651760" y="3904488"/>
            <a:ext cx="393192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900" b="0">
                <a:solidFill>
                  <a:srgbClr val="222222"/>
                </a:solidFill>
              </a:rPr>
              <a:t>Late correction loss</a:t>
            </a:r>
          </a:p>
        </p:txBody>
      </p:sp>
      <p:sp>
        <p:nvSpPr>
          <p:cNvPr id="32" name="Rect 32"/>
          <p:cNvSpPr/>
          <p:nvPr/>
        </p:nvSpPr>
        <p:spPr>
          <a:xfrm>
            <a:off x="6629400" y="3867912"/>
            <a:ext cx="4937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675120" y="3904488"/>
            <a:ext cx="484632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900" b="0">
                <a:solidFill>
                  <a:srgbClr val="222222"/>
                </a:solidFill>
              </a:rPr>
              <a:t>Peak velocity explosion</a:t>
            </a:r>
          </a:p>
        </p:txBody>
      </p:sp>
      <p:sp>
        <p:nvSpPr>
          <p:cNvPr id="34" name="Rect 34"/>
          <p:cNvSpPr/>
          <p:nvPr/>
        </p:nvSpPr>
        <p:spPr>
          <a:xfrm>
            <a:off x="594360" y="4526279"/>
            <a:ext cx="2011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40080" y="4562855"/>
            <a:ext cx="192024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Late+peak</a:t>
            </a:r>
          </a:p>
        </p:txBody>
      </p:sp>
      <p:sp>
        <p:nvSpPr>
          <p:cNvPr id="36" name="Rect 36"/>
          <p:cNvSpPr/>
          <p:nvPr/>
        </p:nvSpPr>
        <p:spPr>
          <a:xfrm>
            <a:off x="2606040" y="4526279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2651760" y="4562855"/>
            <a:ext cx="393192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900" b="0">
                <a:solidFill>
                  <a:srgbClr val="222222"/>
                </a:solidFill>
              </a:rPr>
              <a:t>Weak late + peak control</a:t>
            </a:r>
          </a:p>
        </p:txBody>
      </p:sp>
      <p:sp>
        <p:nvSpPr>
          <p:cNvPr id="38" name="Rect 38"/>
          <p:cNvSpPr/>
          <p:nvPr/>
        </p:nvSpPr>
        <p:spPr>
          <a:xfrm>
            <a:off x="6629400" y="4526279"/>
            <a:ext cx="4937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675120" y="4562855"/>
            <a:ext cx="4846320" cy="603503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Current best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Quantitative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300" b="0">
                <a:solidFill>
                  <a:srgbClr val="555555"/>
                </a:solidFill>
              </a:rPr>
              <a:t>Ratios are generated / real. Closer to 1.0x is better.</a:t>
            </a:r>
          </a:p>
        </p:txBody>
      </p:sp>
      <p:sp>
        <p:nvSpPr>
          <p:cNvPr id="4" name="Rect 4"/>
          <p:cNvSpPr/>
          <p:nvPr/>
        </p:nvSpPr>
        <p:spPr>
          <a:xfrm>
            <a:off x="502920" y="1325880"/>
            <a:ext cx="2103120" cy="685800"/>
          </a:xfrm>
          <a:prstGeom prst="rect">
            <a:avLst/>
          </a:prstGeom>
          <a:solidFill>
            <a:srgbClr val="EEF3F8"/>
          </a:solidFill>
          <a:ln w="9525">
            <a:solidFill>
              <a:srgbClr val="D9DEE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48640" y="1362456"/>
            <a:ext cx="2011679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1">
                <a:solidFill>
                  <a:srgbClr val="222222"/>
                </a:solidFill>
              </a:rPr>
              <a:t>Model</a:t>
            </a:r>
          </a:p>
        </p:txBody>
      </p:sp>
      <p:sp>
        <p:nvSpPr>
          <p:cNvPr id="6" name="Rect 6"/>
          <p:cNvSpPr/>
          <p:nvPr/>
        </p:nvSpPr>
        <p:spPr>
          <a:xfrm>
            <a:off x="2606039" y="1325880"/>
            <a:ext cx="1051560" cy="685800"/>
          </a:xfrm>
          <a:prstGeom prst="rect">
            <a:avLst/>
          </a:prstGeom>
          <a:solidFill>
            <a:srgbClr val="EEF3F8"/>
          </a:solidFill>
          <a:ln w="9525">
            <a:solidFill>
              <a:srgbClr val="D9DE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651759" y="1362456"/>
            <a:ext cx="960119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1">
                <a:solidFill>
                  <a:srgbClr val="222222"/>
                </a:solidFill>
              </a:rPr>
              <a:t>Gap ↓</a:t>
            </a:r>
          </a:p>
        </p:txBody>
      </p:sp>
      <p:sp>
        <p:nvSpPr>
          <p:cNvPr id="8" name="Rect 8"/>
          <p:cNvSpPr/>
          <p:nvPr/>
        </p:nvSpPr>
        <p:spPr>
          <a:xfrm>
            <a:off x="3657600" y="1325880"/>
            <a:ext cx="1143000" cy="685800"/>
          </a:xfrm>
          <a:prstGeom prst="rect">
            <a:avLst/>
          </a:prstGeom>
          <a:solidFill>
            <a:srgbClr val="EEF3F8"/>
          </a:solidFill>
          <a:ln w="9525">
            <a:solidFill>
              <a:srgbClr val="D9DEE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03320" y="13624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1">
                <a:solidFill>
                  <a:srgbClr val="222222"/>
                </a:solidFill>
              </a:rPr>
              <a:t>Path</a:t>
            </a:r>
          </a:p>
        </p:txBody>
      </p:sp>
      <p:sp>
        <p:nvSpPr>
          <p:cNvPr id="10" name="Rect 10"/>
          <p:cNvSpPr/>
          <p:nvPr/>
        </p:nvSpPr>
        <p:spPr>
          <a:xfrm>
            <a:off x="4800599" y="1325880"/>
            <a:ext cx="1143000" cy="685800"/>
          </a:xfrm>
          <a:prstGeom prst="rect">
            <a:avLst/>
          </a:prstGeom>
          <a:solidFill>
            <a:srgbClr val="EEF3F8"/>
          </a:solidFill>
          <a:ln w="9525">
            <a:solidFill>
              <a:srgbClr val="D9DEE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846319" y="13624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1">
                <a:solidFill>
                  <a:srgbClr val="222222"/>
                </a:solidFill>
              </a:rPr>
              <a:t>Dev.</a:t>
            </a:r>
          </a:p>
        </p:txBody>
      </p:sp>
      <p:sp>
        <p:nvSpPr>
          <p:cNvPr id="12" name="Rect 12"/>
          <p:cNvSpPr/>
          <p:nvPr/>
        </p:nvSpPr>
        <p:spPr>
          <a:xfrm>
            <a:off x="5943599" y="1325880"/>
            <a:ext cx="1143000" cy="685800"/>
          </a:xfrm>
          <a:prstGeom prst="rect">
            <a:avLst/>
          </a:prstGeom>
          <a:solidFill>
            <a:srgbClr val="EEF3F8"/>
          </a:solidFill>
          <a:ln w="9525">
            <a:solidFill>
              <a:srgbClr val="D9DEE7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989319" y="13624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1">
                <a:solidFill>
                  <a:srgbClr val="222222"/>
                </a:solidFill>
              </a:rPr>
              <a:t>Peak</a:t>
            </a:r>
          </a:p>
        </p:txBody>
      </p:sp>
      <p:sp>
        <p:nvSpPr>
          <p:cNvPr id="14" name="Rect 14"/>
          <p:cNvSpPr/>
          <p:nvPr/>
        </p:nvSpPr>
        <p:spPr>
          <a:xfrm>
            <a:off x="7086599" y="1325880"/>
            <a:ext cx="1143000" cy="685800"/>
          </a:xfrm>
          <a:prstGeom prst="rect">
            <a:avLst/>
          </a:prstGeom>
          <a:solidFill>
            <a:srgbClr val="EEF3F8"/>
          </a:solidFill>
          <a:ln w="9525">
            <a:solidFill>
              <a:srgbClr val="D9DEE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132319" y="13624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1">
                <a:solidFill>
                  <a:srgbClr val="222222"/>
                </a:solidFill>
              </a:rPr>
              <a:t>Acc.</a:t>
            </a:r>
          </a:p>
        </p:txBody>
      </p:sp>
      <p:sp>
        <p:nvSpPr>
          <p:cNvPr id="16" name="Rect 16"/>
          <p:cNvSpPr/>
          <p:nvPr/>
        </p:nvSpPr>
        <p:spPr>
          <a:xfrm>
            <a:off x="8229600" y="1325880"/>
            <a:ext cx="1143000" cy="685800"/>
          </a:xfrm>
          <a:prstGeom prst="rect">
            <a:avLst/>
          </a:prstGeom>
          <a:solidFill>
            <a:srgbClr val="EEF3F8"/>
          </a:solidFill>
          <a:ln w="9525">
            <a:solidFill>
              <a:srgbClr val="D9DEE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275320" y="13624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1">
                <a:solidFill>
                  <a:srgbClr val="222222"/>
                </a:solidFill>
              </a:rPr>
              <a:t>Jerk</a:t>
            </a:r>
          </a:p>
        </p:txBody>
      </p:sp>
      <p:sp>
        <p:nvSpPr>
          <p:cNvPr id="18" name="Rect 18"/>
          <p:cNvSpPr/>
          <p:nvPr/>
        </p:nvSpPr>
        <p:spPr>
          <a:xfrm>
            <a:off x="502920" y="2011680"/>
            <a:ext cx="21031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48640" y="2048256"/>
            <a:ext cx="2011679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Dynamic</a:t>
            </a:r>
          </a:p>
        </p:txBody>
      </p:sp>
      <p:sp>
        <p:nvSpPr>
          <p:cNvPr id="20" name="Rect 20"/>
          <p:cNvSpPr/>
          <p:nvPr/>
        </p:nvSpPr>
        <p:spPr>
          <a:xfrm>
            <a:off x="2606039" y="201168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2651759" y="2048256"/>
            <a:ext cx="960119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0.421</a:t>
            </a:r>
          </a:p>
        </p:txBody>
      </p:sp>
      <p:sp>
        <p:nvSpPr>
          <p:cNvPr id="22" name="Rect 22"/>
          <p:cNvSpPr/>
          <p:nvPr/>
        </p:nvSpPr>
        <p:spPr>
          <a:xfrm>
            <a:off x="3657600" y="20116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703320" y="20482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0.97x</a:t>
            </a:r>
          </a:p>
        </p:txBody>
      </p:sp>
      <p:sp>
        <p:nvSpPr>
          <p:cNvPr id="24" name="Rect 24"/>
          <p:cNvSpPr/>
          <p:nvPr/>
        </p:nvSpPr>
        <p:spPr>
          <a:xfrm>
            <a:off x="4800599" y="20116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846319" y="20482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0.79x</a:t>
            </a:r>
          </a:p>
        </p:txBody>
      </p:sp>
      <p:sp>
        <p:nvSpPr>
          <p:cNvPr id="26" name="Rect 26"/>
          <p:cNvSpPr/>
          <p:nvPr/>
        </p:nvSpPr>
        <p:spPr>
          <a:xfrm>
            <a:off x="5943599" y="20116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989319" y="20482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1.22x</a:t>
            </a:r>
          </a:p>
        </p:txBody>
      </p:sp>
      <p:sp>
        <p:nvSpPr>
          <p:cNvPr id="28" name="Rect 28"/>
          <p:cNvSpPr/>
          <p:nvPr/>
        </p:nvSpPr>
        <p:spPr>
          <a:xfrm>
            <a:off x="7086599" y="20116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132319" y="20482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0.24x</a:t>
            </a:r>
          </a:p>
        </p:txBody>
      </p:sp>
      <p:sp>
        <p:nvSpPr>
          <p:cNvPr id="30" name="Rect 30"/>
          <p:cNvSpPr/>
          <p:nvPr/>
        </p:nvSpPr>
        <p:spPr>
          <a:xfrm>
            <a:off x="8229600" y="20116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275320" y="20482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0.05x</a:t>
            </a:r>
          </a:p>
        </p:txBody>
      </p:sp>
      <p:sp>
        <p:nvSpPr>
          <p:cNvPr id="32" name="Rect 32"/>
          <p:cNvSpPr/>
          <p:nvPr/>
        </p:nvSpPr>
        <p:spPr>
          <a:xfrm>
            <a:off x="502920" y="2697480"/>
            <a:ext cx="21031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48640" y="2734056"/>
            <a:ext cx="2011679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Statistic</a:t>
            </a:r>
          </a:p>
        </p:txBody>
      </p:sp>
      <p:sp>
        <p:nvSpPr>
          <p:cNvPr id="34" name="Rect 34"/>
          <p:cNvSpPr/>
          <p:nvPr/>
        </p:nvSpPr>
        <p:spPr>
          <a:xfrm>
            <a:off x="2606039" y="269748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2651759" y="2734056"/>
            <a:ext cx="960119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0.233</a:t>
            </a:r>
          </a:p>
        </p:txBody>
      </p:sp>
      <p:sp>
        <p:nvSpPr>
          <p:cNvPr id="36" name="Rect 36"/>
          <p:cNvSpPr/>
          <p:nvPr/>
        </p:nvSpPr>
        <p:spPr>
          <a:xfrm>
            <a:off x="3657600" y="26974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3703320" y="27340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1.01x</a:t>
            </a:r>
          </a:p>
        </p:txBody>
      </p:sp>
      <p:sp>
        <p:nvSpPr>
          <p:cNvPr id="38" name="Rect 38"/>
          <p:cNvSpPr/>
          <p:nvPr/>
        </p:nvSpPr>
        <p:spPr>
          <a:xfrm>
            <a:off x="4800599" y="26974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4846319" y="27340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0.73x</a:t>
            </a:r>
          </a:p>
        </p:txBody>
      </p:sp>
      <p:sp>
        <p:nvSpPr>
          <p:cNvPr id="40" name="Rect 40"/>
          <p:cNvSpPr/>
          <p:nvPr/>
        </p:nvSpPr>
        <p:spPr>
          <a:xfrm>
            <a:off x="5943599" y="26974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5989319" y="27340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1.41x</a:t>
            </a:r>
          </a:p>
        </p:txBody>
      </p:sp>
      <p:sp>
        <p:nvSpPr>
          <p:cNvPr id="42" name="Rect 42"/>
          <p:cNvSpPr/>
          <p:nvPr/>
        </p:nvSpPr>
        <p:spPr>
          <a:xfrm>
            <a:off x="7086599" y="26974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7132319" y="27340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0.72x</a:t>
            </a:r>
          </a:p>
        </p:txBody>
      </p:sp>
      <p:sp>
        <p:nvSpPr>
          <p:cNvPr id="44" name="Rect 44"/>
          <p:cNvSpPr/>
          <p:nvPr/>
        </p:nvSpPr>
        <p:spPr>
          <a:xfrm>
            <a:off x="8229600" y="26974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275320" y="27340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0.68x</a:t>
            </a:r>
          </a:p>
        </p:txBody>
      </p:sp>
      <p:sp>
        <p:nvSpPr>
          <p:cNvPr id="46" name="Rect 46"/>
          <p:cNvSpPr/>
          <p:nvPr/>
        </p:nvSpPr>
        <p:spPr>
          <a:xfrm>
            <a:off x="502920" y="3383280"/>
            <a:ext cx="21031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48640" y="3419856"/>
            <a:ext cx="2011679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Strong late</a:t>
            </a:r>
          </a:p>
        </p:txBody>
      </p:sp>
      <p:sp>
        <p:nvSpPr>
          <p:cNvPr id="48" name="Rect 48"/>
          <p:cNvSpPr/>
          <p:nvPr/>
        </p:nvSpPr>
        <p:spPr>
          <a:xfrm>
            <a:off x="2606039" y="338328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651759" y="3419856"/>
            <a:ext cx="960119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0.416</a:t>
            </a:r>
          </a:p>
        </p:txBody>
      </p:sp>
      <p:sp>
        <p:nvSpPr>
          <p:cNvPr id="50" name="Rect 50"/>
          <p:cNvSpPr/>
          <p:nvPr/>
        </p:nvSpPr>
        <p:spPr>
          <a:xfrm>
            <a:off x="3657600" y="33832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703320" y="34198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1.02x</a:t>
            </a:r>
          </a:p>
        </p:txBody>
      </p:sp>
      <p:sp>
        <p:nvSpPr>
          <p:cNvPr id="52" name="Rect 52"/>
          <p:cNvSpPr/>
          <p:nvPr/>
        </p:nvSpPr>
        <p:spPr>
          <a:xfrm>
            <a:off x="4800599" y="33832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4846319" y="34198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0.97x</a:t>
            </a:r>
          </a:p>
        </p:txBody>
      </p:sp>
      <p:sp>
        <p:nvSpPr>
          <p:cNvPr id="54" name="Rect 54"/>
          <p:cNvSpPr/>
          <p:nvPr/>
        </p:nvSpPr>
        <p:spPr>
          <a:xfrm>
            <a:off x="5943599" y="33832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989319" y="34198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2.24x</a:t>
            </a:r>
          </a:p>
        </p:txBody>
      </p:sp>
      <p:sp>
        <p:nvSpPr>
          <p:cNvPr id="56" name="Rect 56"/>
          <p:cNvSpPr/>
          <p:nvPr/>
        </p:nvSpPr>
        <p:spPr>
          <a:xfrm>
            <a:off x="7086599" y="33832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132319" y="34198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0.88x</a:t>
            </a:r>
          </a:p>
        </p:txBody>
      </p:sp>
      <p:sp>
        <p:nvSpPr>
          <p:cNvPr id="58" name="Rect 58"/>
          <p:cNvSpPr/>
          <p:nvPr/>
        </p:nvSpPr>
        <p:spPr>
          <a:xfrm>
            <a:off x="8229600" y="33832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8275320" y="34198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0.75x</a:t>
            </a:r>
          </a:p>
        </p:txBody>
      </p:sp>
      <p:sp>
        <p:nvSpPr>
          <p:cNvPr id="60" name="Rect 60"/>
          <p:cNvSpPr/>
          <p:nvPr/>
        </p:nvSpPr>
        <p:spPr>
          <a:xfrm>
            <a:off x="502920" y="4069080"/>
            <a:ext cx="21031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548640" y="4105656"/>
            <a:ext cx="2011679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Late+peak</a:t>
            </a:r>
          </a:p>
        </p:txBody>
      </p:sp>
      <p:sp>
        <p:nvSpPr>
          <p:cNvPr id="62" name="Rect 62"/>
          <p:cNvSpPr/>
          <p:nvPr/>
        </p:nvSpPr>
        <p:spPr>
          <a:xfrm>
            <a:off x="2606039" y="4069080"/>
            <a:ext cx="1051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2651759" y="4105656"/>
            <a:ext cx="960119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0.156</a:t>
            </a:r>
          </a:p>
        </p:txBody>
      </p:sp>
      <p:sp>
        <p:nvSpPr>
          <p:cNvPr id="64" name="Rect 64"/>
          <p:cNvSpPr/>
          <p:nvPr/>
        </p:nvSpPr>
        <p:spPr>
          <a:xfrm>
            <a:off x="3657600" y="40690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703320" y="41056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1.03x</a:t>
            </a:r>
          </a:p>
        </p:txBody>
      </p:sp>
      <p:sp>
        <p:nvSpPr>
          <p:cNvPr id="66" name="Rect 66"/>
          <p:cNvSpPr/>
          <p:nvPr/>
        </p:nvSpPr>
        <p:spPr>
          <a:xfrm>
            <a:off x="4800599" y="40690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4846319" y="41056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0.97x</a:t>
            </a:r>
          </a:p>
        </p:txBody>
      </p:sp>
      <p:sp>
        <p:nvSpPr>
          <p:cNvPr id="68" name="Rect 68"/>
          <p:cNvSpPr/>
          <p:nvPr/>
        </p:nvSpPr>
        <p:spPr>
          <a:xfrm>
            <a:off x="5943599" y="40690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5989319" y="41056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1.18x</a:t>
            </a:r>
          </a:p>
        </p:txBody>
      </p:sp>
      <p:sp>
        <p:nvSpPr>
          <p:cNvPr id="70" name="Rect 70"/>
          <p:cNvSpPr/>
          <p:nvPr/>
        </p:nvSpPr>
        <p:spPr>
          <a:xfrm>
            <a:off x="7086599" y="40690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7132319" y="41056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0.79x</a:t>
            </a:r>
          </a:p>
        </p:txBody>
      </p:sp>
      <p:sp>
        <p:nvSpPr>
          <p:cNvPr id="72" name="Rect 72"/>
          <p:cNvSpPr/>
          <p:nvPr/>
        </p:nvSpPr>
        <p:spPr>
          <a:xfrm>
            <a:off x="8229600" y="4069080"/>
            <a:ext cx="114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8275320" y="4105656"/>
            <a:ext cx="1051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222222"/>
                </a:solidFill>
              </a:rPr>
              <a:t>0.69x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>
                <a:solidFill>
                  <a:srgbClr val="2F6B9A"/>
                </a:solidFill>
              </a:rPr>
              <a:t>Late+peak gives the best overall balance: shape, deviation, and velocity are close to real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Trajectory Evolution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300" b="0">
                <a:solidFill>
                  <a:srgbClr val="555555"/>
                </a:solidFill>
              </a:rPr>
              <a:t>Real data → baseline → optimized models</a:t>
            </a:r>
          </a:p>
        </p:txBody>
      </p:sp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586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Current Best: Condition-Level Evaluation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300" b="0">
                <a:solidFill>
                  <a:srgbClr val="555555"/>
                </a:solidFill>
              </a:rPr>
              <a:t>Weak late dynamics + peak velocity control</a:t>
            </a:r>
          </a:p>
        </p:txBody>
      </p:sp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78992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Current Best: Generated Trajectories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300" b="0">
                <a:solidFill>
                  <a:srgbClr val="555555"/>
                </a:solidFill>
              </a:rPr>
              <a:t>Temperature = 0.5, original A/W conditions</a:t>
            </a:r>
          </a:p>
        </p:txBody>
      </p:sp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11750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Similarity to Real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1234440"/>
            <a:ext cx="5303520" cy="429768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100" b="0">
                <a:solidFill>
                  <a:srgbClr val="222222"/>
                </a:solidFill>
              </a:rPr>
              <a:t>Well matched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Path length: 1.03x real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Max deviation: 0.97x real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Peak velocity: 1.18x real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Condition-dependent shapes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0" y="1234440"/>
            <a:ext cx="4846320" cy="429768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100" b="0">
                <a:solidFill>
                  <a:srgbClr val="222222"/>
                </a:solidFill>
              </a:rPr>
              <a:t>Remaining gaps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Acceleration: 0.79x real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Jerk: 0.69x real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Weakest: short distance + wide target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Some loop-like samples remain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Key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1188720"/>
            <a:ext cx="10789920" cy="4480560"/>
          </a:xfrm>
          <a:prstGeom prst="rect">
            <a:avLst/>
          </a:prstGeom>
          <a:noFill/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2300" b="0">
                <a:solidFill>
                  <a:srgbClr val="222222"/>
                </a:solidFill>
              </a:rPr>
              <a:t>Position loss alone is not enough for human-like trajectories</a:t>
            </a:r>
            <a:endParaRPr/>
          </a:p>
          <a:p>
            <a:pPr marL="285750" indent="-171450">
              <a:buChar char="•"/>
            </a:pPr>
            <a:r>
              <a:rPr lang="en-US" sz="2300" b="0">
                <a:solidFill>
                  <a:srgbClr val="222222"/>
                </a:solidFill>
              </a:rPr>
              <a:t>Pointwise dynamic losses can average out micro-adjustments</a:t>
            </a:r>
            <a:endParaRPr/>
          </a:p>
          <a:p>
            <a:pPr marL="285750" indent="-171450">
              <a:buChar char="•"/>
            </a:pPr>
            <a:r>
              <a:rPr lang="en-US" sz="2300" b="0">
                <a:solidFill>
                  <a:srgbClr val="222222"/>
                </a:solidFill>
              </a:rPr>
              <a:t>Distribution-level acceleration and jerk losses are more effective</a:t>
            </a:r>
            <a:endParaRPr/>
          </a:p>
          <a:p>
            <a:pPr marL="285750" indent="-171450">
              <a:buChar char="•"/>
            </a:pPr>
            <a:r>
              <a:rPr lang="en-US" sz="2300" b="0">
                <a:solidFill>
                  <a:srgbClr val="222222"/>
                </a:solidFill>
              </a:rPr>
              <a:t>Late correction must be weak and paired with peak velocity control</a:t>
            </a:r>
            <a:endParaRPr/>
          </a:p>
          <a:p>
            <a:pPr marL="285750" indent="-171450">
              <a:buChar char="•"/>
            </a:pPr>
            <a:r>
              <a:rPr lang="en-US" sz="2300" b="0">
                <a:solidFill>
                  <a:srgbClr val="222222"/>
                </a:solidFill>
              </a:rPr>
              <a:t>Current best balances trajectory shape and dynamics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Applications and Expected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1234440"/>
            <a:ext cx="5303520" cy="43891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100" b="0">
                <a:solidFill>
                  <a:srgbClr val="222222"/>
                </a:solidFill>
              </a:rPr>
              <a:t>Applications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Human-like cursor simulation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HCI pointing task modeling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Synthetic trajectory generation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Adaptive UI / accessibility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0" y="1234440"/>
            <a:ext cx="4846320" cy="43891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100" b="0">
                <a:solidFill>
                  <a:srgbClr val="222222"/>
                </a:solidFill>
              </a:rPr>
              <a:t>Expected Impact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Fewer real trials needed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Condition-aware movement synthesis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Richer interaction simulation</a:t>
            </a:r>
            <a:endParaRPr/>
          </a:p>
          <a:p>
            <a:pPr marL="285750" indent="-171450">
              <a:buChar char="•"/>
            </a:pPr>
            <a:r>
              <a:rPr lang="en-US" sz="2100" b="0">
                <a:solidFill>
                  <a:srgbClr val="222222"/>
                </a:solidFill>
              </a:rPr>
              <a:t>Better evaluation of target designs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111111"/>
                </a:solidFill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400" b="0">
                <a:solidFill>
                  <a:srgbClr val="222222"/>
                </a:solidFill>
              </a:rPr>
              <a:t>Final model</a:t>
            </a:r>
            <a:endParaRPr/>
          </a:p>
          <a:p>
            <a:pPr marL="285750" indent="-171450">
              <a:buChar char="•"/>
            </a:pPr>
            <a:r>
              <a:rPr lang="en-US" sz="2400" b="0">
                <a:solidFill>
                  <a:srgbClr val="222222"/>
                </a:solidFill>
              </a:rPr>
              <a:t>CVAE+GRU with distribution-level dynamics losses</a:t>
            </a:r>
            <a:endParaRPr/>
          </a:p>
          <a:p>
            <a:pPr marL="285750" indent="-171450">
              <a:buChar char="•"/>
            </a:pPr>
            <a:r>
              <a:rPr lang="en-US" sz="2400" b="0">
                <a:solidFill>
                  <a:srgbClr val="222222"/>
                </a:solidFill>
              </a:rPr>
              <a:t>Best version uses weak late correction + peak velocity control</a:t>
            </a:r>
            <a:endParaRPr/>
          </a:p>
          <a:p>
            <a:pPr marL="285750" indent="-171450">
              <a:buChar char="•"/>
            </a:pPr>
            <a:r>
              <a:rPr lang="en-US" sz="2400" b="0">
                <a:solidFill>
                  <a:srgbClr val="222222"/>
                </a:solidFill>
              </a:rPr>
              <a:t>Mean gap reduced to 0.156</a:t>
            </a:r>
            <a:endParaRPr/>
          </a:p>
          <a:p>
            <a:pPr marL="285750" indent="-171450">
              <a:buChar char="•"/>
            </a:pPr>
            <a:r>
              <a:rPr lang="en-US" sz="2400" b="0">
                <a:solidFill>
                  <a:srgbClr val="222222"/>
                </a:solidFill>
              </a:rPr>
              <a:t>Realistic path shape and improved temporal dynamics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8680" y="5715000"/>
            <a:ext cx="10424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800" b="1">
                <a:solidFill>
                  <a:srgbClr val="2F6B9A"/>
                </a:solidFill>
              </a:rPr>
              <a:t>Next: residual decoder and condition-specific temperature/loss weighting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">
  <a:themeElements>
    <a:clrScheme name="Clean">
      <a:dk1>
        <a:srgbClr val="111111"/>
      </a:dk1>
      <a:lt1>
        <a:srgbClr val="FFFFFF"/>
      </a:lt1>
      <a:dk2>
        <a:srgbClr val="222222"/>
      </a:dk2>
      <a:lt2>
        <a:srgbClr val="F5F7FA"/>
      </a:lt2>
      <a:accent1>
        <a:srgbClr val="2F6B9A"/>
      </a:accent1>
      <a:accent2>
        <a:srgbClr val="D94F45"/>
      </a:accent2>
      <a:accent3>
        <a:srgbClr val="5BA66B"/>
      </a:accent3>
      <a:accent4>
        <a:srgbClr val="E0A72E"/>
      </a:accent4>
      <a:accent5>
        <a:srgbClr val="7A5AA6"/>
      </a:accent5>
      <a:accent6>
        <a:srgbClr val="4BA3A0"/>
      </a:accent6>
      <a:hlink>
        <a:srgbClr val="2F6B9A"/>
      </a:hlink>
      <a:folHlink>
        <a:srgbClr val="7A5AA6"/>
      </a:folHlink>
    </a:clrScheme>
    <a:fontScheme name="Clean">
      <a:majorFont>
        <a:latin typeface="Arial"/>
      </a:majorFont>
      <a:minorFont>
        <a:latin typeface="Arial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Mouse Trajectory Generation Model</dc:title>
  <dc:creator>Codex</dc:creator>
</cp:coreProperties>
</file>